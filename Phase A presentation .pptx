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05" r:id="rId3"/>
    <p:sldId id="295" r:id="rId4"/>
    <p:sldId id="306" r:id="rId5"/>
    <p:sldId id="318" r:id="rId6"/>
    <p:sldId id="261" r:id="rId7"/>
    <p:sldId id="319" r:id="rId8"/>
    <p:sldId id="316" r:id="rId9"/>
    <p:sldId id="321" r:id="rId10"/>
    <p:sldId id="322" r:id="rId11"/>
    <p:sldId id="313" r:id="rId12"/>
    <p:sldId id="314" r:id="rId13"/>
    <p:sldId id="323" r:id="rId14"/>
    <p:sldId id="264" r:id="rId15"/>
    <p:sldId id="320" r:id="rId16"/>
    <p:sldId id="298" r:id="rId17"/>
    <p:sldId id="292" r:id="rId18"/>
  </p:sldIdLst>
  <p:sldSz cx="14630400" cy="8229600"/>
  <p:notesSz cx="8229600" cy="14630400"/>
  <p:embeddedFontLst>
    <p:embeddedFont>
      <p:font typeface="Alexandria Semi Bold" panose="020B0604020202020204" charset="-78"/>
      <p:regular r:id="rId20"/>
    </p:embeddedFont>
    <p:embeddedFont>
      <p:font typeface="Arial Rounded MT Bold" panose="020F0704030504030204" pitchFamily="34" charset="0"/>
      <p:regular r:id="rId21"/>
    </p:embeddedFont>
    <p:embeddedFont>
      <p:font typeface="Cambria Math" panose="02040503050406030204" pitchFamily="18" charset="0"/>
      <p:regular r:id="rId22"/>
    </p:embeddedFont>
    <p:embeddedFont>
      <p:font typeface="Sitka Text Semibold" pitchFamily="2" charset="0"/>
      <p:bold r:id="rId23"/>
      <p:boldItalic r:id="rId24"/>
    </p:embeddedFont>
  </p:embeddedFont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512A16-3127-4DBD-A7CA-93C36CE531D3}">
          <p14:sldIdLst>
            <p14:sldId id="256"/>
          </p14:sldIdLst>
        </p14:section>
        <p14:section name="Problem Definition" id="{0631230E-EECB-4C32-B485-435F620D9F9C}">
          <p14:sldIdLst>
            <p14:sldId id="305"/>
            <p14:sldId id="295"/>
          </p14:sldIdLst>
        </p14:section>
        <p14:section name="How to Solve the Problem" id="{2881C619-275B-423C-9291-D83FF6750684}">
          <p14:sldIdLst>
            <p14:sldId id="306"/>
            <p14:sldId id="318"/>
          </p14:sldIdLst>
        </p14:section>
        <p14:section name="Zero-Shot&amp;Few-shot" id="{FA3C077D-BD3D-4029-8E9A-7D1F047A642E}">
          <p14:sldIdLst>
            <p14:sldId id="261"/>
            <p14:sldId id="319"/>
          </p14:sldIdLst>
        </p14:section>
        <p14:section name="Background" id="{6EC9ECE6-C51B-48CC-AA32-82C75DF22F2A}">
          <p14:sldIdLst>
            <p14:sldId id="316"/>
            <p14:sldId id="321"/>
            <p14:sldId id="322"/>
            <p14:sldId id="313"/>
            <p14:sldId id="314"/>
            <p14:sldId id="323"/>
            <p14:sldId id="264"/>
          </p14:sldIdLst>
        </p14:section>
        <p14:section name="Model Flowchart &amp; Testing Plan" id="{F17EA592-537C-4E69-9B41-15BB40C5F154}">
          <p14:sldIdLst>
            <p14:sldId id="320"/>
            <p14:sldId id="298"/>
          </p14:sldIdLst>
        </p14:section>
        <p14:section name="Conclusion" id="{335BA2FA-6045-4A8A-8397-5496FFB180BE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7CB8"/>
    <a:srgbClr val="DBDBDB"/>
    <a:srgbClr val="DAE3F2"/>
    <a:srgbClr val="7296CF"/>
    <a:srgbClr val="94A8CD"/>
    <a:srgbClr val="E5EDF8"/>
    <a:srgbClr val="A9C1E7"/>
    <a:srgbClr val="597DB9"/>
    <a:srgbClr val="93A6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DFB525-01E6-40DF-9F7E-E1CECFD23137}" v="221" dt="2026-01-23T16:24:01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3" autoAdjust="0"/>
    <p:restoredTop sz="63007" autoAdjust="0"/>
  </p:normalViewPr>
  <p:slideViewPr>
    <p:cSldViewPr snapToGrid="0" snapToObjects="1">
      <p:cViewPr>
        <p:scale>
          <a:sx n="66" d="100"/>
          <a:sy n="66" d="100"/>
        </p:scale>
        <p:origin x="830" y="-1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tzafir" userId="a466e43a823c2ea3" providerId="LiveId" clId="{DD6607DF-C620-493C-8F0D-087468B123C8}"/>
    <pc:docChg chg="undo custSel addSld modSld sldOrd modSection">
      <pc:chgData name="chen tzafir" userId="a466e43a823c2ea3" providerId="LiveId" clId="{DD6607DF-C620-493C-8F0D-087468B123C8}" dt="2026-01-23T16:29:03.216" v="1321" actId="1076"/>
      <pc:docMkLst>
        <pc:docMk/>
      </pc:docMkLst>
      <pc:sldChg chg="modSp mod">
        <pc:chgData name="chen tzafir" userId="a466e43a823c2ea3" providerId="LiveId" clId="{DD6607DF-C620-493C-8F0D-087468B123C8}" dt="2026-01-23T11:41:16.333" v="7" actId="1076"/>
        <pc:sldMkLst>
          <pc:docMk/>
          <pc:sldMk cId="0" sldId="256"/>
        </pc:sldMkLst>
        <pc:spChg chg="mod">
          <ac:chgData name="chen tzafir" userId="a466e43a823c2ea3" providerId="LiveId" clId="{DD6607DF-C620-493C-8F0D-087468B123C8}" dt="2026-01-23T11:41:16.333" v="7" actId="1076"/>
          <ac:spMkLst>
            <pc:docMk/>
            <pc:sldMk cId="0" sldId="256"/>
            <ac:spMk id="6" creationId="{C24E5EE9-051E-E679-C536-62BADEEF9381}"/>
          </ac:spMkLst>
        </pc:spChg>
      </pc:sldChg>
      <pc:sldChg chg="modNotesTx">
        <pc:chgData name="chen tzafir" userId="a466e43a823c2ea3" providerId="LiveId" clId="{DD6607DF-C620-493C-8F0D-087468B123C8}" dt="2026-01-23T10:57:14.258" v="5" actId="20577"/>
        <pc:sldMkLst>
          <pc:docMk/>
          <pc:sldMk cId="2416857057" sldId="295"/>
        </pc:sldMkLst>
      </pc:sldChg>
      <pc:sldChg chg="modSp mod modNotesTx">
        <pc:chgData name="chen tzafir" userId="a466e43a823c2ea3" providerId="LiveId" clId="{DD6607DF-C620-493C-8F0D-087468B123C8}" dt="2026-01-23T15:46:18.518" v="942" actId="20577"/>
        <pc:sldMkLst>
          <pc:docMk/>
          <pc:sldMk cId="595289554" sldId="305"/>
        </pc:sldMkLst>
        <pc:spChg chg="mod">
          <ac:chgData name="chen tzafir" userId="a466e43a823c2ea3" providerId="LiveId" clId="{DD6607DF-C620-493C-8F0D-087468B123C8}" dt="2026-01-23T11:52:28.778" v="8" actId="20577"/>
          <ac:spMkLst>
            <pc:docMk/>
            <pc:sldMk cId="595289554" sldId="305"/>
            <ac:spMk id="10" creationId="{FA002233-2A08-0372-D156-88A21A97DA7F}"/>
          </ac:spMkLst>
        </pc:spChg>
      </pc:sldChg>
      <pc:sldChg chg="modSp mod modNotesTx">
        <pc:chgData name="chen tzafir" userId="a466e43a823c2ea3" providerId="LiveId" clId="{DD6607DF-C620-493C-8F0D-087468B123C8}" dt="2026-01-23T16:29:03.216" v="1321" actId="1076"/>
        <pc:sldMkLst>
          <pc:docMk/>
          <pc:sldMk cId="3719166632" sldId="306"/>
        </pc:sldMkLst>
        <pc:spChg chg="mod">
          <ac:chgData name="chen tzafir" userId="a466e43a823c2ea3" providerId="LiveId" clId="{DD6607DF-C620-493C-8F0D-087468B123C8}" dt="2026-01-23T16:29:03.216" v="1321" actId="1076"/>
          <ac:spMkLst>
            <pc:docMk/>
            <pc:sldMk cId="3719166632" sldId="306"/>
            <ac:spMk id="10" creationId="{3FCC7929-AD17-3B71-2094-4A11AA478E72}"/>
          </ac:spMkLst>
        </pc:spChg>
      </pc:sldChg>
      <pc:sldChg chg="addSp modSp mod modNotesTx">
        <pc:chgData name="chen tzafir" userId="a466e43a823c2ea3" providerId="LiveId" clId="{DD6607DF-C620-493C-8F0D-087468B123C8}" dt="2026-01-23T15:09:14.896" v="739" actId="1076"/>
        <pc:sldMkLst>
          <pc:docMk/>
          <pc:sldMk cId="633081021" sldId="313"/>
        </pc:sldMkLst>
        <pc:spChg chg="mod">
          <ac:chgData name="chen tzafir" userId="a466e43a823c2ea3" providerId="LiveId" clId="{DD6607DF-C620-493C-8F0D-087468B123C8}" dt="2026-01-23T14:03:27.627" v="415" actId="108"/>
          <ac:spMkLst>
            <pc:docMk/>
            <pc:sldMk cId="633081021" sldId="313"/>
            <ac:spMk id="2" creationId="{E5530AA8-4185-D7F5-87A1-8B3C443B559B}"/>
          </ac:spMkLst>
        </pc:spChg>
        <pc:spChg chg="mod">
          <ac:chgData name="chen tzafir" userId="a466e43a823c2ea3" providerId="LiveId" clId="{DD6607DF-C620-493C-8F0D-087468B123C8}" dt="2026-01-23T14:59:41.737" v="722" actId="20577"/>
          <ac:spMkLst>
            <pc:docMk/>
            <pc:sldMk cId="633081021" sldId="313"/>
            <ac:spMk id="7" creationId="{C88770C9-862E-4CAD-3A1F-A5B31D1A1E4F}"/>
          </ac:spMkLst>
        </pc:spChg>
        <pc:picChg chg="add mod">
          <ac:chgData name="chen tzafir" userId="a466e43a823c2ea3" providerId="LiveId" clId="{DD6607DF-C620-493C-8F0D-087468B123C8}" dt="2026-01-23T15:09:14.896" v="739" actId="1076"/>
          <ac:picMkLst>
            <pc:docMk/>
            <pc:sldMk cId="633081021" sldId="313"/>
            <ac:picMk id="4" creationId="{2BBE5359-5B44-C98B-B27C-2EE39254BDB7}"/>
          </ac:picMkLst>
        </pc:picChg>
      </pc:sldChg>
      <pc:sldChg chg="addSp modSp mod ord modNotesTx">
        <pc:chgData name="chen tzafir" userId="a466e43a823c2ea3" providerId="LiveId" clId="{DD6607DF-C620-493C-8F0D-087468B123C8}" dt="2026-01-23T15:45:30.927" v="908" actId="20577"/>
        <pc:sldMkLst>
          <pc:docMk/>
          <pc:sldMk cId="901869153" sldId="314"/>
        </pc:sldMkLst>
        <pc:spChg chg="mod">
          <ac:chgData name="chen tzafir" userId="a466e43a823c2ea3" providerId="LiveId" clId="{DD6607DF-C620-493C-8F0D-087468B123C8}" dt="2026-01-23T15:45:30.927" v="908" actId="20577"/>
          <ac:spMkLst>
            <pc:docMk/>
            <pc:sldMk cId="901869153" sldId="314"/>
            <ac:spMk id="2" creationId="{B30E0F7A-D220-6656-E315-80DD9F94363C}"/>
          </ac:spMkLst>
        </pc:spChg>
        <pc:spChg chg="mod">
          <ac:chgData name="chen tzafir" userId="a466e43a823c2ea3" providerId="LiveId" clId="{DD6607DF-C620-493C-8F0D-087468B123C8}" dt="2026-01-23T14:05:48.747" v="461" actId="20577"/>
          <ac:spMkLst>
            <pc:docMk/>
            <pc:sldMk cId="901869153" sldId="314"/>
            <ac:spMk id="7" creationId="{AB6E9E5A-6E0A-3864-0AF6-2F1EC2517A65}"/>
          </ac:spMkLst>
        </pc:spChg>
        <pc:picChg chg="add mod">
          <ac:chgData name="chen tzafir" userId="a466e43a823c2ea3" providerId="LiveId" clId="{DD6607DF-C620-493C-8F0D-087468B123C8}" dt="2026-01-23T15:09:25.766" v="742" actId="14100"/>
          <ac:picMkLst>
            <pc:docMk/>
            <pc:sldMk cId="901869153" sldId="314"/>
            <ac:picMk id="4" creationId="{E43E131F-8930-0BBA-2FD3-39F8237E738D}"/>
          </ac:picMkLst>
        </pc:picChg>
      </pc:sldChg>
      <pc:sldChg chg="modNotesTx">
        <pc:chgData name="chen tzafir" userId="a466e43a823c2ea3" providerId="LiveId" clId="{DD6607DF-C620-493C-8F0D-087468B123C8}" dt="2026-01-23T16:00:03.328" v="965" actId="20577"/>
        <pc:sldMkLst>
          <pc:docMk/>
          <pc:sldMk cId="560664980" sldId="321"/>
        </pc:sldMkLst>
      </pc:sldChg>
      <pc:sldChg chg="modSp mod modNotesTx">
        <pc:chgData name="chen tzafir" userId="a466e43a823c2ea3" providerId="LiveId" clId="{DD6607DF-C620-493C-8F0D-087468B123C8}" dt="2026-01-23T12:24:22.740" v="116" actId="20577"/>
        <pc:sldMkLst>
          <pc:docMk/>
          <pc:sldMk cId="1648506284" sldId="322"/>
        </pc:sldMkLst>
        <pc:spChg chg="mod">
          <ac:chgData name="chen tzafir" userId="a466e43a823c2ea3" providerId="LiveId" clId="{DD6607DF-C620-493C-8F0D-087468B123C8}" dt="2026-01-23T12:24:22.740" v="116" actId="20577"/>
          <ac:spMkLst>
            <pc:docMk/>
            <pc:sldMk cId="1648506284" sldId="322"/>
            <ac:spMk id="5" creationId="{166652FF-D41A-0C3B-1AB6-51BFC3EF1D81}"/>
          </ac:spMkLst>
        </pc:spChg>
      </pc:sldChg>
      <pc:sldChg chg="addSp modSp add mod modNotesTx">
        <pc:chgData name="chen tzafir" userId="a466e43a823c2ea3" providerId="LiveId" clId="{DD6607DF-C620-493C-8F0D-087468B123C8}" dt="2026-01-23T16:24:32.607" v="1320" actId="1076"/>
        <pc:sldMkLst>
          <pc:docMk/>
          <pc:sldMk cId="688178098" sldId="323"/>
        </pc:sldMkLst>
        <pc:spChg chg="mod">
          <ac:chgData name="chen tzafir" userId="a466e43a823c2ea3" providerId="LiveId" clId="{DD6607DF-C620-493C-8F0D-087468B123C8}" dt="2026-01-23T16:24:32.607" v="1320" actId="1076"/>
          <ac:spMkLst>
            <pc:docMk/>
            <pc:sldMk cId="688178098" sldId="323"/>
            <ac:spMk id="2" creationId="{96D7DF08-8FCE-01FE-A2A5-C37D544F324B}"/>
          </ac:spMkLst>
        </pc:spChg>
        <pc:spChg chg="mod">
          <ac:chgData name="chen tzafir" userId="a466e43a823c2ea3" providerId="LiveId" clId="{DD6607DF-C620-493C-8F0D-087468B123C8}" dt="2026-01-23T14:04:55.317" v="444" actId="20577"/>
          <ac:spMkLst>
            <pc:docMk/>
            <pc:sldMk cId="688178098" sldId="323"/>
            <ac:spMk id="7" creationId="{99410A94-3767-17C6-5487-9A49F7174A02}"/>
          </ac:spMkLst>
        </pc:spChg>
        <pc:picChg chg="add mod">
          <ac:chgData name="chen tzafir" userId="a466e43a823c2ea3" providerId="LiveId" clId="{DD6607DF-C620-493C-8F0D-087468B123C8}" dt="2026-01-23T15:58:19.258" v="947" actId="14100"/>
          <ac:picMkLst>
            <pc:docMk/>
            <pc:sldMk cId="688178098" sldId="323"/>
            <ac:picMk id="4" creationId="{06CBAD58-DD7A-D2E7-BF74-5C314C86CB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660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D6DF4-E5FC-29CB-FFAB-F7037F7C7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1650-A171-5114-3665-E364F5938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F1129-5F4D-C257-39DD-C66016940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chen</a:t>
            </a:r>
            <a:b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Let's start with the problem we are trying to solve. </a:t>
            </a:r>
            <a:b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Today, anyone can create a deepfake using simple apps. </a:t>
            </a:r>
            <a:b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This is a big problem for the security field, especially when we need to verify someone's identity online.</a:t>
            </a:r>
            <a:b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The main issue is that current detection models are not 'smart' enough. </a:t>
            </a:r>
            <a:b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They are like students who memorize the answers for a specific test. </a:t>
            </a:r>
            <a:b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If you change the questions is similar to, use a new type of deepfake - they fail. </a:t>
            </a:r>
            <a:b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Our goal is to find a solution that can detect fake images even if it has never seen that specific type of fake before.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229B6-2D01-E56E-4AEC-2122634A7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82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E5920-B107-5A1C-9F97-DA7E0CDA7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DC635-798B-A9D7-07DF-D938C10E0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23A97-45DE-EFB3-5C47-187473984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887D5-0DCA-816A-8699-8412C2FA0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70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D25B9-65F2-8B64-5058-57D410E54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1CAA0-5396-55C2-394E-2235C24EF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C73B7-C445-39B4-D013-98567110A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Nir</a:t>
            </a:r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How can we detect deepfakes that we have never seen before, and get better performance?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Detector that does not need retraining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Robust model, new deepfakes appear daily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We want confidence score – not just yes and no answer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to know how sure the model is</a:t>
            </a:r>
          </a:p>
          <a:p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So, this leads us to the main question of our research: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-How can we detect deepfakes that we have never seen before, and achieve better performance than traditional models?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First, we need a detector that works without retraining. In the real world, new deepfake apps appear every week. We cannot afford to retrain our model every single time a new app is released.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Second, the model must be robust. It needs to perform well even on new, unseen styles of manipulation that were not part of its original training data.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And third, a simple 'Yes' or 'No' is not enough. We need a confidence score. For real-world security systems, like identity verification, we need to know how sure the model is sure about its decision, not just the final label.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E4654-0676-1060-30FB-3A96B2FA9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17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14E7C-4E89-0C96-C9E9-B19B5A3FC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FF605C06-715D-87C1-7FAD-34BF166E2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A2BD24EE-7B74-3860-8ED5-0A344259A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effectLst/>
              </a:rPr>
              <a:t>Nir</a:t>
            </a:r>
            <a:br>
              <a:rPr lang="en-US" dirty="0">
                <a:effectLst/>
              </a:rPr>
            </a:br>
            <a:endParaRPr lang="en-US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to solve this – we need </a:t>
            </a:r>
            <a:r>
              <a:rPr lang="en-US" b="1" dirty="0">
                <a:effectLst/>
              </a:rPr>
              <a:t>probabilistic Inference algorithm </a:t>
            </a:r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How do we do that? First, we ask </a:t>
            </a:r>
            <a:r>
              <a:rPr lang="en-US" i="1" dirty="0">
                <a:effectLst/>
              </a:rPr>
              <a:t>'Is this photo real?’</a:t>
            </a:r>
            <a:r>
              <a:rPr lang="en-US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we extract the raw confidence scores for the tokens 'Yes' and 'No’.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Then we normalize the values, meaning we convert a generative text model into probabilistic score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Gives us a score that is allowing us to detect deepfake based on semantic anomalies, not visual noise</a:t>
            </a:r>
            <a:br>
              <a:rPr lang="en-US" dirty="0">
                <a:effectLst/>
              </a:rPr>
            </a:b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To solve this, we developed a </a:t>
            </a:r>
            <a:r>
              <a:rPr lang="en-US" b="1" dirty="0">
                <a:effectLst/>
              </a:rPr>
              <a:t>Probabilistic Inference Algorithm</a:t>
            </a:r>
            <a:r>
              <a:rPr lang="en-US" dirty="0">
                <a:effectLst/>
              </a:rPr>
              <a:t>. We ask the model: </a:t>
            </a:r>
            <a:r>
              <a:rPr lang="en-US" i="1" dirty="0">
                <a:effectLst/>
              </a:rPr>
              <a:t>'Is this photo real?'</a:t>
            </a:r>
            <a:r>
              <a:rPr lang="en-US" dirty="0">
                <a:effectLst/>
              </a:rPr>
              <a:t>. Instead of just reading the text answer, we extract the raw confidence scores—the </a:t>
            </a:r>
            <a:r>
              <a:rPr lang="it-IT" sz="1200" dirty="0">
                <a:latin typeface="Sitka Text Semibold (גוף)"/>
              </a:rPr>
              <a:t>token Probabilities </a:t>
            </a:r>
            <a:r>
              <a:rPr lang="en-US" dirty="0">
                <a:effectLst/>
              </a:rPr>
              <a:t>—for the tokens 'Yes' and 'No'.</a:t>
            </a:r>
          </a:p>
          <a:p>
            <a:r>
              <a:rPr lang="en-US" dirty="0">
                <a:effectLst/>
              </a:rPr>
              <a:t>By normalizing these values, we convert a generative text model into a precise probabilistic classifier. This gives us a score, that is allowing us to detect deepfakes based on semantic anomalies rather than just visual noise."</a:t>
            </a:r>
          </a:p>
          <a:p>
            <a:br>
              <a:rPr lang="en-US" dirty="0"/>
            </a:b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01081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chen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to solve the problem of detecting new deepfakes We use an approach called 'Zero-Shot’.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Imagine showing a picture to a person and asking, 'Is this real?’.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They don't need to study thousands of fake photos beforehand to spot something weird.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They just use their general knowledge.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We do the same thing with AI.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We use large Visual Language Models that have seen so much data.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For this project, we chose a specific model called InstructBLIP.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We chose it because it uses a technique called 'Instruction Tuning'.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46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D404-5320-BDD2-87CE-6B3F37F8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8E1AC-3481-7C51-E070-2CCB59C89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B080A-6ED6-3F8A-D7C1-CAB2A7BAF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Nir</a:t>
            </a:r>
            <a:br>
              <a:rPr lang="en-US" dirty="0">
                <a:effectLst/>
              </a:rPr>
            </a:br>
            <a:endParaRPr lang="en-US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Sometimes, Zero-Shot isn't enough, and we need the model to become an expert on a specific new type of deepfake quickly</a:t>
            </a:r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Think of it like a human - </a:t>
            </a:r>
            <a:r>
              <a:rPr lang="en-US" dirty="0">
                <a:effectLst/>
              </a:rPr>
              <a:t>if I show you just 3 or 4 examples of a specific glitch, you learn to spot it immediately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we want the model to do the same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To achieve, we use smart fine tuning, </a:t>
            </a:r>
            <a:r>
              <a:rPr lang="en-US" b="1" dirty="0">
                <a:effectLst/>
              </a:rPr>
              <a:t>PEFT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We don’t train the whole ‘brain’ of the model again, we will train only a part that is called the q former, the bridge between the LLM and the Image encoder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allows to train the system on just 10% of the dataset—in a matter of minutes, achieving near-perfect detection results</a:t>
            </a:r>
            <a:br>
              <a:rPr lang="en-US" dirty="0">
                <a:effectLst/>
              </a:rPr>
            </a:b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Now, let's look at </a:t>
            </a:r>
            <a:r>
              <a:rPr lang="en-US" b="1" dirty="0">
                <a:effectLst/>
              </a:rPr>
              <a:t>Few-Shot Learning</a:t>
            </a:r>
            <a:r>
              <a:rPr lang="en-US" dirty="0">
                <a:effectLst/>
              </a:rPr>
              <a:t>. </a:t>
            </a:r>
          </a:p>
          <a:p>
            <a:r>
              <a:rPr lang="en-US" dirty="0">
                <a:effectLst/>
              </a:rPr>
              <a:t>Sometimes, Zero-Shot isn't enough, and we need the model to become an expert on a specific new type of deepfake very quickly.</a:t>
            </a:r>
          </a:p>
          <a:p>
            <a:r>
              <a:rPr lang="en-US" dirty="0">
                <a:effectLst/>
              </a:rPr>
              <a:t>Think of it like human learning: if I show you just 3 or 4 examples of a specific glitch, you learn to spot it immediately. </a:t>
            </a:r>
          </a:p>
          <a:p>
            <a:r>
              <a:rPr lang="en-US" dirty="0">
                <a:effectLst/>
              </a:rPr>
              <a:t>We want our model to do the same.</a:t>
            </a:r>
          </a:p>
          <a:p>
            <a:r>
              <a:rPr lang="en-US" dirty="0">
                <a:effectLst/>
              </a:rPr>
              <a:t>To achieve this without ruining the model's general intelligence, we use a strategy called </a:t>
            </a:r>
            <a:r>
              <a:rPr lang="en-US" b="1" dirty="0">
                <a:effectLst/>
              </a:rPr>
              <a:t>Smart Fine-Tuning</a:t>
            </a:r>
            <a:r>
              <a:rPr lang="en-US" dirty="0">
                <a:effectLst/>
              </a:rPr>
              <a:t> (or PEFT). Instead of retraining the whole massive brain of the model, we keep it </a:t>
            </a:r>
            <a:r>
              <a:rPr lang="en-US" b="1" dirty="0">
                <a:effectLst/>
              </a:rPr>
              <a:t>frozen</a:t>
            </a:r>
            <a:r>
              <a:rPr lang="en-US" dirty="0">
                <a:effectLst/>
              </a:rPr>
              <a:t>. We only update the </a:t>
            </a:r>
            <a:r>
              <a:rPr lang="en-US" b="1" dirty="0">
                <a:effectLst/>
              </a:rPr>
              <a:t>Q-Former</a:t>
            </a:r>
            <a:r>
              <a:rPr lang="en-US" dirty="0">
                <a:effectLst/>
              </a:rPr>
              <a:t>—the small part that connects vision to language.</a:t>
            </a:r>
          </a:p>
          <a:p>
            <a:r>
              <a:rPr lang="en-US" dirty="0">
                <a:effectLst/>
              </a:rPr>
              <a:t>This allows us to train the system on very little data—just 10% of the dataset—in a matter of minutes, achieving near-perfect detection results."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42636-EF06-B270-32B7-484AAACDE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83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67C1C-69B4-6BE3-C19E-7CA00478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C3AAE-92B7-8EF9-88FD-B1D0EA599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1CF57-B641-6E05-7CE0-60147D047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Nir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 current state of the are traditional detector - </a:t>
            </a:r>
            <a:r>
              <a:rPr lang="en-US" b="1" dirty="0">
                <a:effectLst/>
              </a:rPr>
              <a:t>Self-Blended Images, SBI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Unlike older methods that swapped faces between two different people, creating obvious mismatches, SBI is clever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It takes a </a:t>
            </a:r>
            <a:r>
              <a:rPr lang="en-US" b="1" dirty="0">
                <a:effectLst/>
              </a:rPr>
              <a:t>single real photo</a:t>
            </a:r>
            <a:r>
              <a:rPr lang="en-US" dirty="0">
                <a:effectLst/>
              </a:rPr>
              <a:t>, creates a copy, applies digital augmentations like color shifts or resizing to that copy, and then </a:t>
            </a:r>
            <a:r>
              <a:rPr lang="en-US" b="1" dirty="0">
                <a:effectLst/>
              </a:rPr>
              <a:t>blends it back</a:t>
            </a:r>
            <a:r>
              <a:rPr lang="en-US" dirty="0">
                <a:effectLst/>
              </a:rPr>
              <a:t> onto the original face.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Teaches the detectors to hunt for very specific artifacts, mainly </a:t>
            </a:r>
            <a:r>
              <a:rPr lang="en-US" b="1" dirty="0">
                <a:effectLst/>
              </a:rPr>
              <a:t>blending boundaries</a:t>
            </a:r>
            <a:r>
              <a:rPr lang="en-US" dirty="0">
                <a:effectLst/>
              </a:rPr>
              <a:t> and frequency inconsistencies.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The weakness – no semantic understanding, it does not understand the content of the image.</a:t>
            </a:r>
          </a:p>
          <a:p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dirty="0">
                <a:effectLst/>
              </a:rPr>
              <a:t>"Before showing our results, we must look at the current state-of-the-art in traditional detection: </a:t>
            </a:r>
            <a:r>
              <a:rPr lang="en-US" b="1" dirty="0">
                <a:effectLst/>
              </a:rPr>
              <a:t>Self-Blended Images, or SBI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Unlike older methods that swapped faces between two different people, creating obvious mismatches, SBI is clever. It takes a </a:t>
            </a:r>
            <a:r>
              <a:rPr lang="en-US" b="1" dirty="0">
                <a:effectLst/>
              </a:rPr>
              <a:t>single real photo</a:t>
            </a:r>
            <a:r>
              <a:rPr lang="en-US" dirty="0">
                <a:effectLst/>
              </a:rPr>
              <a:t>, creates a copy, applies digital augmentations like color shifts or resizing to that copy, and then </a:t>
            </a:r>
            <a:r>
              <a:rPr lang="en-US" b="1" dirty="0">
                <a:effectLst/>
              </a:rPr>
              <a:t>blends it back</a:t>
            </a:r>
            <a:r>
              <a:rPr lang="en-US" dirty="0">
                <a:effectLst/>
              </a:rPr>
              <a:t> onto the original face.</a:t>
            </a:r>
          </a:p>
          <a:p>
            <a:r>
              <a:rPr lang="en-US" dirty="0">
                <a:effectLst/>
              </a:rPr>
              <a:t>This teaches the detector to hunt for very specific artifacts, mainly </a:t>
            </a:r>
            <a:r>
              <a:rPr lang="en-US" b="1" dirty="0">
                <a:effectLst/>
              </a:rPr>
              <a:t>blending boundaries</a:t>
            </a:r>
            <a:r>
              <a:rPr lang="en-US" dirty="0">
                <a:effectLst/>
              </a:rPr>
              <a:t> and frequency inconsistencies. It is essentially a 'Pixel Detective'—it looks for the 'scars' left by the forgery process.</a:t>
            </a:r>
          </a:p>
          <a:p>
            <a:r>
              <a:rPr lang="en-US" dirty="0">
                <a:effectLst/>
              </a:rPr>
              <a:t>However, this is also its weakness. SBI relies on finding these specific pixel-level traces. It does not understand the </a:t>
            </a:r>
            <a:r>
              <a:rPr lang="en-US" i="1" dirty="0">
                <a:effectLst/>
              </a:rPr>
              <a:t>content</a:t>
            </a:r>
            <a:r>
              <a:rPr lang="en-US" dirty="0">
                <a:effectLst/>
              </a:rPr>
              <a:t> of the image.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9B547-0005-7A11-EF4E-9646AC524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15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D04A2-8DBB-58D3-B274-8BC505285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5E6DE-BFB0-7C24-5216-965AC5824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6D24AC-6594-E56F-0DFE-A44ABF760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Chen</a:t>
            </a:r>
          </a:p>
          <a:p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How can we find model that can do any visual task just by following instructions?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The challenge is that the 'brain' of AI - the Large Language Model - cannot see images.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And the 'eyes’ - the Vision models - cannot talk.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The core idea of InstructBLIP is simple but powerful.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Instead of trying to retrain these huge models, we keep them frozen.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We don't touch them.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Instead, we build a small, flexible 'bridge' between them.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We call this bridge the Q-Former. 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This bridge is the only part we train, teaching it to translate what the eyes see into something the brain can understand.</a:t>
            </a:r>
          </a:p>
          <a:p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1143D-6457-2463-1E62-E8A78BACB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91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96B98-9EC0-C5AA-BADE-A11CF1421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498CE-6146-2755-7832-E459ADEA3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68A9F-8C08-E848-B225-D32B15BC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Chen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see how the flow of the architecture works, and in the next slides, we'll focus on each component in detail.</a:t>
            </a:r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5921C-46AC-D85A-459B-3D7EDD9E69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42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55970-BF7F-4848-A183-A73FBBE60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10157-77C4-0502-0956-FABEA4350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338B7-1ACC-D3C6-EC61-80423F320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Chen</a:t>
            </a:r>
          </a:p>
          <a:p>
            <a:endParaRPr lang="he-IL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algn="r" rtl="1"/>
            <a:r>
              <a:rPr lang="he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איך הוא משטח</a:t>
            </a:r>
            <a:r>
              <a:rPr lang="af-Z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כל </a:t>
            </a:r>
            <a:r>
              <a:rPr lang="he-I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פאץ</a:t>
            </a:r>
            <a:r>
              <a:rPr lang="he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'?</a:t>
            </a:r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דמיין שחתכת ריבוע מהתמונה בגודל 16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af-Z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פיקסלים.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לכל פיקסל יש 3 צבעים (אדום, ירוק, כחול)</a:t>
            </a:r>
            <a:endParaRPr lang="af-Z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סך </a:t>
            </a:r>
            <a:r>
              <a:rPr lang="he-I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הכל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יש לך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16X16X3=768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מספרים.</a:t>
            </a:r>
          </a:p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"שיטוח" פשוט אומר לקחת את המטריצה הזו ולסדר את כל המספרים בשורה אחת ארוכה (ווקטור).</a:t>
            </a:r>
          </a:p>
          <a:p>
            <a:pPr algn="r"/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algn="r" rtl="1"/>
            <a:r>
              <a:rPr lang="af-Z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Linear Layer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היא בעצם מטריצה של מספרים (משקולות) שאנחנו מכפילים בה את הווקטור הגולמי.</a:t>
            </a:r>
          </a:p>
          <a:p>
            <a:pPr algn="r" rtl="1"/>
            <a:r>
              <a:rPr lang="he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המטרה: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להפוך את הפיקסלים ל"שפה" </a:t>
            </a:r>
            <a:r>
              <a:rPr lang="he-I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שהטרנספורמר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מבין (מרחב </a:t>
            </a:r>
            <a:r>
              <a:rPr lang="he-I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וקטורי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עשיר יותר).</a:t>
            </a:r>
          </a:p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אם הווקטור הגולמי הוא 768, והשכבה הליניארית היא בגודל 768 </a:t>
            </a:r>
            <a:r>
              <a:rPr lang="af-Z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1408 X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התוצאה תהיה ווקטור חדש באורך 1408.</a:t>
            </a:r>
          </a:p>
          <a:p>
            <a:pPr algn="r" rtl="1"/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af-ZA" b="1" dirty="0"/>
              <a:t>Positional Embedding</a:t>
            </a:r>
            <a:r>
              <a:rPr lang="af-ZA" dirty="0"/>
              <a:t> </a:t>
            </a:r>
            <a:r>
              <a:rPr lang="he-IL" dirty="0"/>
              <a:t> למודל </a:t>
            </a:r>
            <a:r>
              <a:rPr lang="he-IL" dirty="0" err="1"/>
              <a:t>טרנספורמר</a:t>
            </a:r>
            <a:r>
              <a:rPr lang="he-IL" dirty="0"/>
              <a:t> אין מושג מה "למעלה" ומה "למטה" בתמונה (הוא רואה את הפאצ'ים כקבוצה). </a:t>
            </a:r>
            <a:br>
              <a:rPr lang="en-US" dirty="0"/>
            </a:br>
            <a:r>
              <a:rPr lang="he-IL" dirty="0"/>
              <a:t>לכן, לכל ווקטור של פאץ' אנחנו </a:t>
            </a:r>
            <a:r>
              <a:rPr lang="he-IL" b="1" dirty="0"/>
              <a:t>מוסיפים</a:t>
            </a:r>
            <a:r>
              <a:rPr lang="he-IL" dirty="0"/>
              <a:t> ווקטור קבוע שמייצג את המיקום שלו (למשל: "אני הפאץ' בשורה 1, עמודה 1"). זה מאפשר למודל להבין מבנה מרחבי.</a:t>
            </a:r>
            <a:endParaRPr lang="he-I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algn="r" rtl="1"/>
            <a:r>
              <a:rPr lang="af-ZA" b="1" dirty="0"/>
              <a:t>Self-Attention</a:t>
            </a:r>
            <a:r>
              <a:rPr lang="af-ZA" dirty="0"/>
              <a:t> </a:t>
            </a:r>
            <a:r>
              <a:rPr lang="he-IL" dirty="0"/>
              <a:t> זה מנגנון שבו כל פאץ' בתמונה "מסתכל" על שאר הפאצ'ים כדי להבין הקשר. </a:t>
            </a:r>
            <a:br>
              <a:rPr lang="en-US" dirty="0"/>
            </a:br>
            <a:r>
              <a:rPr lang="he-IL" dirty="0"/>
              <a:t>לדוגמה: פאץ' של "עין" יסתכל על פאצ'ים מסביבו כדי להבין אם הוא חלק מ"פנים של כלב" או "פנים של אדם".</a:t>
            </a:r>
          </a:p>
          <a:p>
            <a:pPr algn="r" rtl="1"/>
            <a:endParaRPr lang="he-IL" dirty="0"/>
          </a:p>
          <a:p>
            <a:pPr algn="r" rtl="1"/>
            <a:r>
              <a:rPr lang="af-ZA" b="1" dirty="0"/>
              <a:t>Softmax</a:t>
            </a:r>
            <a:r>
              <a:rPr lang="af-ZA" dirty="0"/>
              <a:t> </a:t>
            </a:r>
            <a:r>
              <a:rPr lang="he-IL" dirty="0"/>
              <a:t> זו פונקציה מתמטית שהופכת רשימת מספרים להסתברויות (מספרים בין 0 ל-1 שסכומם הוא 1). </a:t>
            </a:r>
            <a:br>
              <a:rPr lang="en-US" dirty="0"/>
            </a:br>
            <a:r>
              <a:rPr lang="he-IL" dirty="0"/>
              <a:t>ב</a:t>
            </a:r>
            <a:r>
              <a:rPr lang="af-ZA" dirty="0"/>
              <a:t>Attention</a:t>
            </a:r>
            <a:r>
              <a:rPr lang="he-IL" dirty="0"/>
              <a:t> היא קובעת </a:t>
            </a:r>
            <a:r>
              <a:rPr lang="he-IL" b="1" dirty="0"/>
              <a:t>כמה תשומת לב</a:t>
            </a:r>
            <a:r>
              <a:rPr lang="he-IL" dirty="0"/>
              <a:t> פאץ' א' צריך לתת לפאץ' ב'.</a:t>
            </a:r>
          </a:p>
          <a:p>
            <a:pPr algn="r" rtl="1"/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1D7B5-CBC7-D20D-1813-A37878AA7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14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CF42-738C-A464-F5B1-28D4F7337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9B116-2A37-CC5D-EA7B-0E3CBB715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08623-CB42-FDB0-C4EA-C6D8BCE0F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Chen</a:t>
            </a: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1200" b="1" dirty="0">
                <a:latin typeface="Alexandria Semi Bold" pitchFamily="34" charset="0"/>
                <a:cs typeface="Alexandria Semi Bold" pitchFamily="34" charset="-120"/>
              </a:rPr>
              <a:t>The Q-Former is the “information extractor” between vision and language</a:t>
            </a:r>
            <a:endParaRPr lang="af-ZA" sz="1200" b="1" dirty="0">
              <a:latin typeface="Alexandria Semi Bold" pitchFamily="34" charset="0"/>
              <a:cs typeface="Alexandria Semi Bold" pitchFamily="34" charset="-120"/>
            </a:endParaRPr>
          </a:p>
          <a:p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DA25A-7B4B-5BE0-0949-B0E3719BE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17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9F4D-B44D-5E74-8AE2-304DD7D1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C3CFF-DFF1-3CA4-1291-02A89A3E9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163B9-53D9-5253-2900-3B14C82F8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Chen</a:t>
            </a:r>
          </a:p>
          <a:p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dirty="0"/>
              <a:t>Apparently, in phase B we will use Vicuna</a:t>
            </a:r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dirty="0"/>
              <a:t>because is an </a:t>
            </a:r>
            <a:r>
              <a:rPr lang="en-US" b="1" dirty="0"/>
              <a:t>open-source</a:t>
            </a:r>
            <a:r>
              <a:rPr lang="en-US" dirty="0"/>
              <a:t> LLM that is </a:t>
            </a:r>
            <a:r>
              <a:rPr lang="en-US" b="1" dirty="0"/>
              <a:t>available for free</a:t>
            </a:r>
            <a:r>
              <a:rPr lang="en-US" dirty="0"/>
              <a:t>, and it is considered one of the </a:t>
            </a:r>
            <a:r>
              <a:rPr lang="en-US" b="1" dirty="0"/>
              <a:t>most popular models</a:t>
            </a:r>
            <a:r>
              <a:rPr lang="en-US" dirty="0"/>
              <a:t> in the AI community.</a:t>
            </a:r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07391-418D-D7A5-A2C3-F429BEF2C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72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Intro:</a:t>
            </a:r>
            <a:r>
              <a:rPr lang="en-US" dirty="0"/>
              <a:t> "Now, let's look at how we actually trained the model. This strategy is what makes </a:t>
            </a:r>
            <a:r>
              <a:rPr lang="en-US" dirty="0" err="1"/>
              <a:t>InstructBLIP</a:t>
            </a:r>
            <a:r>
              <a:rPr lang="en-US" dirty="0"/>
              <a:t> so </a:t>
            </a:r>
            <a:r>
              <a:rPr lang="en-US"/>
              <a:t>special.“</a:t>
            </a:r>
          </a:p>
          <a:p>
            <a:endParaRPr lang="en-US" dirty="0"/>
          </a:p>
          <a:p>
            <a:r>
              <a:rPr lang="en-US" b="1" dirty="0"/>
              <a:t>1. Instruction Tuning Data:</a:t>
            </a:r>
            <a:r>
              <a:rPr lang="en-US" dirty="0"/>
              <a:t> "First, the data. We didn't just use images. We took </a:t>
            </a:r>
            <a:r>
              <a:rPr lang="en-US" b="1" dirty="0"/>
              <a:t>26 different datasets</a:t>
            </a:r>
            <a:r>
              <a:rPr lang="en-US" dirty="0"/>
              <a:t> from </a:t>
            </a:r>
            <a:r>
              <a:rPr lang="en-US" b="1" dirty="0"/>
              <a:t>11 different task types</a:t>
            </a:r>
            <a:r>
              <a:rPr lang="en-US" dirty="0"/>
              <a:t>. But here is the key: We converted all of them into an </a:t>
            </a:r>
            <a:r>
              <a:rPr lang="en-US" b="1" dirty="0"/>
              <a:t>'Instruction' format</a:t>
            </a:r>
            <a:r>
              <a:rPr lang="en-US" dirty="0"/>
              <a:t>. Instead of just showing an image, we ask the model questions like 'What is in this image?' or 'Describe the scene'. This teaches the model to follow user commands." </a:t>
            </a:r>
          </a:p>
          <a:p>
            <a:r>
              <a:rPr lang="en-US" b="1" dirty="0"/>
              <a:t>2. Training Protocol (The Diagram):</a:t>
            </a:r>
            <a:r>
              <a:rPr lang="en-US" dirty="0"/>
              <a:t> "Please look at the diagram on the right.</a:t>
            </a:r>
          </a:p>
          <a:p>
            <a:r>
              <a:rPr lang="en-US" dirty="0"/>
              <a:t>The </a:t>
            </a:r>
            <a:r>
              <a:rPr lang="en-US" b="1" dirty="0"/>
              <a:t>Yellow boxes</a:t>
            </a:r>
            <a:r>
              <a:rPr lang="en-US" dirty="0"/>
              <a:t> are what we call </a:t>
            </a:r>
            <a:r>
              <a:rPr lang="en-US" b="1" dirty="0"/>
              <a:t>'Held-in'</a:t>
            </a:r>
            <a:r>
              <a:rPr lang="en-US" dirty="0"/>
              <a:t> data. We used these to train the Q-Former.</a:t>
            </a:r>
          </a:p>
          <a:p>
            <a:r>
              <a:rPr lang="en-US" dirty="0"/>
              <a:t>The </a:t>
            </a:r>
            <a:r>
              <a:rPr lang="en-US" b="1" dirty="0"/>
              <a:t>White boxes</a:t>
            </a:r>
            <a:r>
              <a:rPr lang="en-US" dirty="0"/>
              <a:t> are </a:t>
            </a:r>
            <a:r>
              <a:rPr lang="en-US" b="1" dirty="0"/>
              <a:t>'Held-out'</a:t>
            </a:r>
            <a:r>
              <a:rPr lang="en-US" dirty="0"/>
              <a:t> data. The model </a:t>
            </a:r>
            <a:r>
              <a:rPr lang="en-US" b="1" dirty="0"/>
              <a:t>never saw</a:t>
            </a:r>
            <a:r>
              <a:rPr lang="en-US" dirty="0"/>
              <a:t> these during training. We use them to test the model's </a:t>
            </a:r>
            <a:r>
              <a:rPr lang="en-US" b="1" dirty="0"/>
              <a:t>Zero-Shot</a:t>
            </a:r>
            <a:r>
              <a:rPr lang="en-US" dirty="0"/>
              <a:t> ability—meaning, can it solve problems it has never seen before?" </a:t>
            </a:r>
          </a:p>
          <a:p>
            <a:r>
              <a:rPr lang="en-US" b="1" dirty="0"/>
              <a:t>3. Balanced Sampling Strategy:</a:t>
            </a:r>
            <a:r>
              <a:rPr lang="en-US" dirty="0"/>
              <a:t> "Finally, we had a challenge: Some datasets are huge (like COCO), and some are very small. If we train normally, the model only learns the big ones. So, we used a </a:t>
            </a:r>
            <a:r>
              <a:rPr lang="en-US" b="1" dirty="0"/>
              <a:t>Square Root Sampling strategy</a:t>
            </a:r>
            <a:r>
              <a:rPr lang="en-US" dirty="0"/>
              <a:t>. This is a math trick that balances the big and small datasets, so the model learns from everything equally and doesn't overfit." </a:t>
            </a:r>
          </a:p>
          <a:p>
            <a:pPr marL="0" algn="l" defTabSz="914400" rtl="0" eaLnBrk="1" latinLnBrk="0" hangingPunct="1"/>
            <a:br>
              <a:rPr lang="en-US" sz="1200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he-IL" b="1" dirty="0"/>
              <a:t>במה משתמשים בתוצאה? (ההסתברות)</a:t>
            </a:r>
            <a:r>
              <a:rPr lang="he-IL" dirty="0"/>
              <a:t> התוצאה של השורש קובעת את </a:t>
            </a:r>
            <a:r>
              <a:rPr lang="he-IL" b="1" dirty="0"/>
              <a:t>ההסתברות </a:t>
            </a:r>
            <a:r>
              <a:rPr lang="he-IL" dirty="0"/>
              <a:t>שהמערכת "תשלוף" דוגמה </a:t>
            </a:r>
            <a:r>
              <a:rPr lang="he-IL" dirty="0" err="1"/>
              <a:t>מהדאטה</a:t>
            </a:r>
            <a:r>
              <a:rPr lang="he-IL" dirty="0"/>
              <a:t>-סט הזה בכל צעד של האימון. הנוסחה המדויקת מהמאמר היא: ההסתברות לבחור בדאטה-סט די שווה לשורש הגודל שלו, חלקי סכום השורשים של כולם</a:t>
            </a:r>
            <a:endParaRPr lang="en-US" sz="1200" kern="12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017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639B1-75C1-3696-CF60-25A3F46C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B1A76-57FD-397A-0DDC-37B38E378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2C7FB-AB25-001F-8369-8DA2250A9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Nir</a:t>
            </a:r>
          </a:p>
          <a:p>
            <a:endParaRPr lang="en-US" dirty="0"/>
          </a:p>
          <a:p>
            <a:r>
              <a:rPr lang="en-US" dirty="0">
                <a:effectLst/>
              </a:rPr>
              <a:t>"Please take a look at the system architecture diagram. This illustrates our core innovation: transforming a generative model into a probabilistic classifier.</a:t>
            </a:r>
          </a:p>
          <a:p>
            <a:r>
              <a:rPr lang="en-US" dirty="0">
                <a:effectLst/>
              </a:rPr>
              <a:t>1. </a:t>
            </a:r>
            <a:r>
              <a:rPr lang="en-US" b="1" dirty="0">
                <a:effectLst/>
              </a:rPr>
              <a:t>On the left</a:t>
            </a:r>
            <a:r>
              <a:rPr lang="en-US" dirty="0">
                <a:effectLst/>
              </a:rPr>
              <a:t>, you see the input. We feed the model the image along with a specific question: </a:t>
            </a:r>
            <a:r>
              <a:rPr lang="en-US" i="1" dirty="0">
                <a:effectLst/>
              </a:rPr>
              <a:t>'Is this photo real?'</a:t>
            </a:r>
            <a:r>
              <a:rPr lang="en-U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2. </a:t>
            </a:r>
            <a:r>
              <a:rPr lang="en-US" b="1" dirty="0">
                <a:effectLst/>
              </a:rPr>
              <a:t>In the middle</a:t>
            </a:r>
            <a:r>
              <a:rPr lang="en-US" dirty="0">
                <a:effectLst/>
              </a:rPr>
              <a:t>, the </a:t>
            </a:r>
            <a:r>
              <a:rPr lang="en-US" b="1" dirty="0">
                <a:effectLst/>
              </a:rPr>
              <a:t>Q-Former</a:t>
            </a:r>
            <a:r>
              <a:rPr lang="en-US" dirty="0">
                <a:effectLst/>
              </a:rPr>
              <a:t> processes the image based on that question. It acts as a bridge, extracting only the visual cues relevant to forgery detection.</a:t>
            </a:r>
          </a:p>
          <a:p>
            <a:r>
              <a:rPr lang="en-US" dirty="0">
                <a:effectLst/>
              </a:rPr>
              <a:t>3. </a:t>
            </a:r>
            <a:r>
              <a:rPr lang="en-US" b="1" dirty="0">
                <a:effectLst/>
              </a:rPr>
              <a:t>Now, look at the output stage.</a:t>
            </a:r>
            <a:r>
              <a:rPr lang="en-US" dirty="0">
                <a:effectLst/>
              </a:rPr>
              <a:t> A standard VLM would just generate the text 'Yes' or 'No'. But text is binary and hard to measure.</a:t>
            </a:r>
          </a:p>
          <a:p>
            <a:r>
              <a:rPr lang="en-US" dirty="0">
                <a:effectLst/>
              </a:rPr>
              <a:t>4. </a:t>
            </a:r>
            <a:r>
              <a:rPr lang="en-US" b="1" dirty="0">
                <a:effectLst/>
              </a:rPr>
              <a:t>Instead</a:t>
            </a:r>
            <a:r>
              <a:rPr lang="en-US" dirty="0">
                <a:effectLst/>
              </a:rPr>
              <a:t>, we intercept the process before text generation. We extract the raw confidence scores—the </a:t>
            </a:r>
            <a:r>
              <a:rPr lang="en-US" b="1" dirty="0">
                <a:effectLst/>
              </a:rPr>
              <a:t>logits</a:t>
            </a:r>
            <a:r>
              <a:rPr lang="en-US" dirty="0">
                <a:effectLst/>
              </a:rPr>
              <a:t>—for the tokens 'Yes' and 'No'.</a:t>
            </a:r>
          </a:p>
          <a:p>
            <a:r>
              <a:rPr lang="en-US" dirty="0">
                <a:effectLst/>
              </a:rPr>
              <a:t>5. </a:t>
            </a:r>
            <a:r>
              <a:rPr lang="en-US" b="1" dirty="0">
                <a:effectLst/>
              </a:rPr>
              <a:t>Finally</a:t>
            </a:r>
            <a:r>
              <a:rPr lang="en-US" dirty="0">
                <a:effectLst/>
              </a:rPr>
              <a:t>, using the formula you see on the screen, we normalize these scores to get a precise probability. This gives us a continuous anomaly score, allowing us to build a robust security system."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A87E3-E444-E04F-E84C-004A05EFE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23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8970-6E7C-20A4-2857-94EAF7BC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FAD0C-26E0-A0ED-D939-C64FA6733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3BABB-A00F-F9D6-7BCE-DE315B5CC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slide describe our Test Plan. </a:t>
            </a:r>
            <a:br>
              <a:rPr lang="en-US" dirty="0"/>
            </a:br>
            <a:r>
              <a:rPr lang="en-US" dirty="0"/>
              <a:t>Before we can compare the results, we need to make sure both systems work correctly.</a:t>
            </a:r>
          </a:p>
          <a:p>
            <a:r>
              <a:rPr lang="en-US" dirty="0"/>
              <a:t>We divided the tests into three parts: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First, the SBI Model:</a:t>
            </a:r>
            <a:r>
              <a:rPr lang="en-US" dirty="0"/>
              <a:t> This is the specialized deepfake detector. </a:t>
            </a:r>
            <a:br>
              <a:rPr lang="en-US" dirty="0"/>
            </a:br>
            <a:r>
              <a:rPr lang="en-US" dirty="0"/>
              <a:t>We test if it loads correctly and if it processes the images without creating technical errors at the borders.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Second, InstructBLIP:</a:t>
            </a:r>
            <a:r>
              <a:rPr lang="en-US" dirty="0"/>
              <a:t> Here, we test our Zero-Shot pipeline. </a:t>
            </a:r>
            <a:br>
              <a:rPr lang="en-US" dirty="0"/>
            </a:br>
            <a:r>
              <a:rPr lang="en-US" dirty="0"/>
              <a:t>We need to verify that when we ask 'Is this photo real?', the model gives us a valid answer that we can convert into a mathematical score.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Finally, the Comparison:</a:t>
            </a:r>
            <a:r>
              <a:rPr lang="en-US" dirty="0"/>
              <a:t> Once both pipelines are stable, we run them on the same images.</a:t>
            </a:r>
          </a:p>
          <a:p>
            <a:br>
              <a:rPr lang="en-US" dirty="0"/>
            </a:br>
            <a:r>
              <a:rPr lang="en-US" dirty="0"/>
              <a:t>Our </a:t>
            </a:r>
            <a:r>
              <a:rPr lang="af-ZA" b="1" dirty="0"/>
              <a:t>Prediction</a:t>
            </a:r>
            <a:r>
              <a:rPr lang="af-ZA" dirty="0"/>
              <a:t> </a:t>
            </a:r>
            <a:r>
              <a:rPr lang="en-US" dirty="0"/>
              <a:t>is that InstructBLIP, using its general knowledge will actually perform better than the specialized SBI model, especially on difficult images."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4AC5C-01C7-C6D9-91B1-AA1D33984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74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B46BB-6587-8E9F-8F75-8E0FE890E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F310E-8103-EE25-8C52-E61FDBE4D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49BA1-7246-710D-7547-6DEFC123C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F2D19-CAF8-F9DF-E5EF-6E819A9623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16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Picture 5" descr="A blue and black logo&#10;&#10;Description automatically generated">
            <a:extLst>
              <a:ext uri="{FF2B5EF4-FFF2-40B4-BE49-F238E27FC236}">
                <a16:creationId xmlns:a16="http://schemas.microsoft.com/office/drawing/2014/main" id="{4D2CCC74-DDAF-A329-BB22-1F64CA726B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492" y="147383"/>
            <a:ext cx="1725957" cy="407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B801FA34-76DA-66EB-CE16-17983B64023A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3492" y="147383"/>
            <a:ext cx="1725957" cy="4074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971977"/>
            <a:ext cx="7627382" cy="3177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af-ZA" sz="4450" b="1" dirty="0">
                <a:latin typeface="Alexandria Semi Bold" pitchFamily="34" charset="0"/>
                <a:cs typeface="Alexandria Semi Bold" pitchFamily="34" charset="-120"/>
              </a:rPr>
              <a:t>Visual Language Models as Zero-Shot Deepfake Detectors</a:t>
            </a:r>
            <a:endParaRPr lang="he-IL" sz="4450" b="1" dirty="0">
              <a:latin typeface="Alexandria Semi Bold" pitchFamily="34" charset="0"/>
              <a:cs typeface="Alexandria Semi Bold" pitchFamily="34" charset="-120"/>
            </a:endParaRPr>
          </a:p>
          <a:p>
            <a:pPr algn="ctr">
              <a:lnSpc>
                <a:spcPct val="150000"/>
              </a:lnSpc>
            </a:pPr>
            <a:endParaRPr lang="en-US" sz="4450" b="1" dirty="0">
              <a:latin typeface="Alexandria Semi Bold" pitchFamily="34" charset="0"/>
              <a:cs typeface="Alexandria Semi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4224" y="560270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700"/>
              </a:lnSpc>
              <a:buNone/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Chen Tsafir</a:t>
            </a:r>
          </a:p>
        </p:txBody>
      </p:sp>
      <p:sp>
        <p:nvSpPr>
          <p:cNvPr id="5" name="Text 2"/>
          <p:cNvSpPr/>
          <p:nvPr/>
        </p:nvSpPr>
        <p:spPr>
          <a:xfrm>
            <a:off x="2866652" y="560270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b="1" dirty="0">
                <a:latin typeface="Alexandria Semi Bold" panose="020B0604020202020204" charset="-78"/>
                <a:ea typeface="Sora Light" pitchFamily="34" charset="-122"/>
                <a:cs typeface="Alexandria Semi Bold" panose="020B0604020202020204" charset="-78"/>
              </a:rPr>
              <a:t>Nir Glick</a:t>
            </a:r>
            <a:endParaRPr lang="en-US" sz="1700" b="1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24E5EE9-051E-E679-C536-62BADEEF9381}"/>
              </a:ext>
            </a:extLst>
          </p:cNvPr>
          <p:cNvSpPr/>
          <p:nvPr/>
        </p:nvSpPr>
        <p:spPr>
          <a:xfrm>
            <a:off x="2866652" y="6072957"/>
            <a:ext cx="1313048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207851155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39C5D3-FDFB-935C-D90D-1A439128C781}"/>
              </a:ext>
            </a:extLst>
          </p:cNvPr>
          <p:cNvSpPr txBox="1"/>
          <p:nvPr/>
        </p:nvSpPr>
        <p:spPr>
          <a:xfrm>
            <a:off x="4943019" y="6072957"/>
            <a:ext cx="7315200" cy="415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319005104</a:t>
            </a:r>
            <a:endParaRPr lang="en-IL" sz="1700" b="1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  <p:pic>
        <p:nvPicPr>
          <p:cNvPr id="9" name="Picture 8" descr="המכללה האקדמית להנדסה בראודה - לדף הבית">
            <a:extLst>
              <a:ext uri="{FF2B5EF4-FFF2-40B4-BE49-F238E27FC236}">
                <a16:creationId xmlns:a16="http://schemas.microsoft.com/office/drawing/2014/main" id="{7341BE46-C84B-0A46-D8FA-5974E1F7DE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687" y="364820"/>
            <a:ext cx="3995913" cy="132503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4E6E7E-D055-4F22-19C0-14F7269D327B}"/>
              </a:ext>
            </a:extLst>
          </p:cNvPr>
          <p:cNvSpPr txBox="1"/>
          <p:nvPr/>
        </p:nvSpPr>
        <p:spPr>
          <a:xfrm>
            <a:off x="4943019" y="6941759"/>
            <a:ext cx="7315200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2700"/>
              </a:lnSpc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Prof. Zeev (Vladimir) Volkovich</a:t>
            </a:r>
            <a:endParaRPr lang="en-IL" sz="1700" b="1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2C3E45-B01D-6C95-DB54-A236E9642562}"/>
              </a:ext>
            </a:extLst>
          </p:cNvPr>
          <p:cNvSpPr txBox="1"/>
          <p:nvPr/>
        </p:nvSpPr>
        <p:spPr>
          <a:xfrm>
            <a:off x="2702104" y="6941759"/>
            <a:ext cx="2128976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2700"/>
              </a:lnSpc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Dr. Renata Avros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C54CC-E2AC-BBEB-5CC3-3A27329C4788}"/>
              </a:ext>
            </a:extLst>
          </p:cNvPr>
          <p:cNvSpPr txBox="1"/>
          <p:nvPr/>
        </p:nvSpPr>
        <p:spPr>
          <a:xfrm>
            <a:off x="298606" y="5839295"/>
            <a:ext cx="1126334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Students</a:t>
            </a:r>
            <a:endParaRPr lang="en-IL" sz="1700" b="1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D1B60-2092-227C-4934-82B8A9B5FE73}"/>
              </a:ext>
            </a:extLst>
          </p:cNvPr>
          <p:cNvSpPr txBox="1"/>
          <p:nvPr/>
        </p:nvSpPr>
        <p:spPr>
          <a:xfrm>
            <a:off x="298606" y="6941759"/>
            <a:ext cx="1400654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Supervisors</a:t>
            </a:r>
            <a:endParaRPr lang="en-IL" sz="1700" b="1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B376B78-4C29-3D3A-268E-A38E09AC024A}"/>
              </a:ext>
            </a:extLst>
          </p:cNvPr>
          <p:cNvSpPr txBox="1"/>
          <p:nvPr/>
        </p:nvSpPr>
        <p:spPr>
          <a:xfrm>
            <a:off x="202856" y="158353"/>
            <a:ext cx="1317833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26-1-R-18</a:t>
            </a:r>
            <a:endParaRPr lang="en-IL" sz="1700" b="1" dirty="0">
              <a:latin typeface="Alexandria Semi Bold" panose="020B0604020202020204" charset="-78"/>
              <a:cs typeface="Alexandria Semi Bold" panose="020B0604020202020204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AF1A5-794E-58D4-C043-3B8183F5E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4ED5E0-F1A0-F2AC-66E9-A650D8CA2D58}"/>
              </a:ext>
            </a:extLst>
          </p:cNvPr>
          <p:cNvSpPr/>
          <p:nvPr/>
        </p:nvSpPr>
        <p:spPr>
          <a:xfrm>
            <a:off x="1186" y="695459"/>
            <a:ext cx="14630399" cy="754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850"/>
              </a:lnSpc>
            </a:pPr>
            <a:r>
              <a:rPr lang="en-US" sz="4450" b="1" dirty="0">
                <a:latin typeface="Alexandria Semi Bold" pitchFamily="34" charset="0"/>
                <a:cs typeface="Alexandria Semi Bold" pitchFamily="34" charset="-120"/>
              </a:rPr>
              <a:t>Problem Definition</a:t>
            </a:r>
          </a:p>
        </p:txBody>
      </p:sp>
      <p:pic>
        <p:nvPicPr>
          <p:cNvPr id="15" name="Image 0">
            <a:extLst>
              <a:ext uri="{FF2B5EF4-FFF2-40B4-BE49-F238E27FC236}">
                <a16:creationId xmlns:a16="http://schemas.microsoft.com/office/drawing/2014/main" id="{66408AA5-F512-9B34-517D-1F99DBD7F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" y="6876788"/>
            <a:ext cx="14630400" cy="1352811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FA002233-2A08-0372-D156-88A21A97DA7F}"/>
              </a:ext>
            </a:extLst>
          </p:cNvPr>
          <p:cNvSpPr txBox="1"/>
          <p:nvPr/>
        </p:nvSpPr>
        <p:spPr>
          <a:xfrm>
            <a:off x="1310453" y="1935278"/>
            <a:ext cx="12009494" cy="36009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The Threat</a:t>
            </a:r>
            <a:br>
              <a:rPr lang="af-ZA" sz="2400" b="1" dirty="0">
                <a:solidFill>
                  <a:srgbClr val="587CB8"/>
                </a:solidFill>
                <a:latin typeface="Alexandria Semi Bold" pitchFamily="34" charset="0"/>
                <a:cs typeface="Alexandria Semi Bold" pitchFamily="34" charset="-120"/>
              </a:rPr>
            </a:b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Deepfakes are becoming easy to create and hard to detect. </a:t>
            </a:r>
            <a:br>
              <a:rPr lang="en-US" sz="2000" b="1" dirty="0">
                <a:latin typeface="Sitka Text Semibold" pitchFamily="2" charset="0"/>
                <a:cs typeface="Sora Light" pitchFamily="34" charset="-120"/>
              </a:rPr>
            </a:b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This creates serious problems for identity verification, </a:t>
            </a:r>
            <a:r>
              <a:rPr lang="af-ZA" sz="2000" b="1" dirty="0">
                <a:latin typeface="Sitka Text Semibold" pitchFamily="2" charset="0"/>
                <a:cs typeface="Sora Light" pitchFamily="34" charset="-120"/>
              </a:rPr>
              <a:t>liveness checks</a:t>
            </a: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 and </a:t>
            </a:r>
            <a:r>
              <a:rPr lang="af-ZA" sz="2000" b="1" dirty="0">
                <a:latin typeface="Sitka Text Semibold" pitchFamily="2" charset="0"/>
                <a:cs typeface="Sora Light" pitchFamily="34" charset="-120"/>
              </a:rPr>
              <a:t>fraud prevention.</a:t>
            </a:r>
            <a:endParaRPr lang="en-US" sz="2000" b="1" dirty="0">
              <a:latin typeface="Sitka Text Semibold" pitchFamily="2" charset="0"/>
              <a:cs typeface="Sora Light" pitchFamily="34" charset="-120"/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The Limitation</a:t>
            </a:r>
            <a:br>
              <a:rPr lang="af-ZA" dirty="0"/>
            </a:b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Traditional detectors are trained on specific datasets.</a:t>
            </a:r>
            <a:br>
              <a:rPr lang="en-US" sz="2000" b="1" dirty="0">
                <a:latin typeface="Sitka Text Semibold" pitchFamily="2" charset="0"/>
                <a:cs typeface="Sora Light" pitchFamily="34" charset="-120"/>
              </a:rPr>
            </a:b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They work well on "seen" data and </a:t>
            </a:r>
            <a:r>
              <a:rPr lang="af-ZA" sz="2000" b="1" dirty="0">
                <a:latin typeface="Sitka Text Semibold" pitchFamily="2" charset="0"/>
                <a:cs typeface="Sora Light" pitchFamily="34" charset="-120"/>
              </a:rPr>
              <a:t>they fail on "unseen".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f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The Gap</a:t>
            </a:r>
            <a:br>
              <a:rPr lang="af-ZA" dirty="0"/>
            </a:b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Traditional</a:t>
            </a:r>
            <a:r>
              <a:rPr lang="af-ZA" sz="2000" b="1" dirty="0">
                <a:latin typeface="Sitka Text Semibold" pitchFamily="2" charset="0"/>
                <a:cs typeface="Sora Light" pitchFamily="34" charset="-120"/>
              </a:rPr>
              <a:t> models struggle with new generation methods or simple image changes.</a:t>
            </a:r>
            <a:br>
              <a:rPr lang="af-ZA" sz="2000" b="1" dirty="0">
                <a:latin typeface="Sitka Text Semibold" pitchFamily="2" charset="0"/>
                <a:cs typeface="Sora Light" pitchFamily="34" charset="-120"/>
              </a:rPr>
            </a:br>
            <a:r>
              <a:rPr lang="af-ZA" sz="2000" b="1" dirty="0">
                <a:latin typeface="Sitka Text Semibold" pitchFamily="2" charset="0"/>
                <a:cs typeface="Sora Light" pitchFamily="34" charset="-120"/>
              </a:rPr>
              <a:t>they break when the image is compressed or noise is added.</a:t>
            </a:r>
            <a:endParaRPr lang="he-IL" sz="2000" b="1" dirty="0">
              <a:latin typeface="Sitka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289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71ADD-6CB0-E0CC-90B3-F51012CF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71F4B99A-3B50-2C3C-78F6-AE7E4CE3EA46}"/>
              </a:ext>
            </a:extLst>
          </p:cNvPr>
          <p:cNvSpPr/>
          <p:nvPr/>
        </p:nvSpPr>
        <p:spPr>
          <a:xfrm>
            <a:off x="7298475" y="1809808"/>
            <a:ext cx="70542" cy="5486342"/>
          </a:xfrm>
          <a:prstGeom prst="roundRect">
            <a:avLst>
              <a:gd name="adj" fmla="val 410222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7FF6E0C-9272-4955-2D73-B0EE8388F5C2}"/>
              </a:ext>
            </a:extLst>
          </p:cNvPr>
          <p:cNvSpPr/>
          <p:nvPr/>
        </p:nvSpPr>
        <p:spPr>
          <a:xfrm>
            <a:off x="6657858" y="2136992"/>
            <a:ext cx="520898" cy="15240"/>
          </a:xfrm>
          <a:prstGeom prst="roundRect">
            <a:avLst>
              <a:gd name="adj" fmla="val 410222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4C97C49-3F85-428D-AA1D-D14F76B24F1B}"/>
              </a:ext>
            </a:extLst>
          </p:cNvPr>
          <p:cNvSpPr/>
          <p:nvPr/>
        </p:nvSpPr>
        <p:spPr>
          <a:xfrm>
            <a:off x="7163516" y="1977210"/>
            <a:ext cx="334804" cy="334804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C8C9C1-3B4B-0862-5BA3-016D24A825A8}"/>
              </a:ext>
            </a:extLst>
          </p:cNvPr>
          <p:cNvSpPr/>
          <p:nvPr/>
        </p:nvSpPr>
        <p:spPr>
          <a:xfrm>
            <a:off x="7284722" y="2027097"/>
            <a:ext cx="92392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ACF169-243E-5B7F-C4DA-C93F82627A7D}"/>
              </a:ext>
            </a:extLst>
          </p:cNvPr>
          <p:cNvSpPr/>
          <p:nvPr/>
        </p:nvSpPr>
        <p:spPr>
          <a:xfrm>
            <a:off x="4108278" y="2022214"/>
            <a:ext cx="2436049" cy="27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Problem Definition 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1584D65-A263-39AA-4C65-72E43974067B}"/>
              </a:ext>
            </a:extLst>
          </p:cNvPr>
          <p:cNvSpPr/>
          <p:nvPr/>
        </p:nvSpPr>
        <p:spPr>
          <a:xfrm>
            <a:off x="7483080" y="2881133"/>
            <a:ext cx="520898" cy="15240"/>
          </a:xfrm>
          <a:prstGeom prst="roundRect">
            <a:avLst>
              <a:gd name="adj" fmla="val 410222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9776424-6FA1-06AC-38A4-2C15D4D9FF53}"/>
              </a:ext>
            </a:extLst>
          </p:cNvPr>
          <p:cNvSpPr/>
          <p:nvPr/>
        </p:nvSpPr>
        <p:spPr>
          <a:xfrm>
            <a:off x="7163516" y="2721351"/>
            <a:ext cx="334804" cy="334804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A748812-D710-FA4F-3774-3CF46F848D1B}"/>
              </a:ext>
            </a:extLst>
          </p:cNvPr>
          <p:cNvSpPr/>
          <p:nvPr/>
        </p:nvSpPr>
        <p:spPr>
          <a:xfrm>
            <a:off x="7260790" y="2771238"/>
            <a:ext cx="140256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5E97A20-B247-0E17-B9D3-5B0C6B2302A5}"/>
              </a:ext>
            </a:extLst>
          </p:cNvPr>
          <p:cNvSpPr/>
          <p:nvPr/>
        </p:nvSpPr>
        <p:spPr>
          <a:xfrm>
            <a:off x="6657858" y="3550859"/>
            <a:ext cx="520898" cy="15240"/>
          </a:xfrm>
          <a:prstGeom prst="roundRect">
            <a:avLst>
              <a:gd name="adj" fmla="val 410222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9C1D534-B8C9-6EF9-F5A1-985DAE0E9AAB}"/>
              </a:ext>
            </a:extLst>
          </p:cNvPr>
          <p:cNvSpPr/>
          <p:nvPr/>
        </p:nvSpPr>
        <p:spPr>
          <a:xfrm>
            <a:off x="7163516" y="3391077"/>
            <a:ext cx="334804" cy="334804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EB2102-02AF-46FD-2347-80AAEFBB5A20}"/>
              </a:ext>
            </a:extLst>
          </p:cNvPr>
          <p:cNvSpPr/>
          <p:nvPr/>
        </p:nvSpPr>
        <p:spPr>
          <a:xfrm>
            <a:off x="7260671" y="3440964"/>
            <a:ext cx="140494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10C4DE5-3EC8-9E1A-C4EC-D0F833977FC4}"/>
              </a:ext>
            </a:extLst>
          </p:cNvPr>
          <p:cNvSpPr/>
          <p:nvPr/>
        </p:nvSpPr>
        <p:spPr>
          <a:xfrm>
            <a:off x="8003978" y="2773976"/>
            <a:ext cx="2788325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900"/>
              </a:lnSpc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How to Solve the Problem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14DDB67-F415-17DB-97D6-B84B8A752997}"/>
              </a:ext>
            </a:extLst>
          </p:cNvPr>
          <p:cNvSpPr/>
          <p:nvPr/>
        </p:nvSpPr>
        <p:spPr>
          <a:xfrm>
            <a:off x="7483080" y="4220705"/>
            <a:ext cx="520898" cy="15240"/>
          </a:xfrm>
          <a:prstGeom prst="roundRect">
            <a:avLst>
              <a:gd name="adj" fmla="val 410222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53ECEA5-3341-C48B-FE24-FA91C234F62A}"/>
              </a:ext>
            </a:extLst>
          </p:cNvPr>
          <p:cNvSpPr/>
          <p:nvPr/>
        </p:nvSpPr>
        <p:spPr>
          <a:xfrm>
            <a:off x="7163516" y="4060923"/>
            <a:ext cx="334804" cy="334804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7BBBD58-4206-2963-3F5B-0417F5805DD5}"/>
              </a:ext>
            </a:extLst>
          </p:cNvPr>
          <p:cNvSpPr/>
          <p:nvPr/>
        </p:nvSpPr>
        <p:spPr>
          <a:xfrm>
            <a:off x="7260076" y="4110810"/>
            <a:ext cx="141684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</a:t>
            </a:r>
            <a:endParaRPr lang="en-US" sz="18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069FC62-47B9-1AEB-56EC-60583C86D561}"/>
              </a:ext>
            </a:extLst>
          </p:cNvPr>
          <p:cNvSpPr/>
          <p:nvPr/>
        </p:nvSpPr>
        <p:spPr>
          <a:xfrm>
            <a:off x="5397197" y="3422968"/>
            <a:ext cx="227159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Zero-Shot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9FE3229-D6DD-CFCF-52F6-B86E89FB7724}"/>
              </a:ext>
            </a:extLst>
          </p:cNvPr>
          <p:cNvSpPr/>
          <p:nvPr/>
        </p:nvSpPr>
        <p:spPr>
          <a:xfrm>
            <a:off x="6657858" y="4890550"/>
            <a:ext cx="520898" cy="15240"/>
          </a:xfrm>
          <a:prstGeom prst="roundRect">
            <a:avLst>
              <a:gd name="adj" fmla="val 410222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028A369-D0CC-0E72-EAE7-A2E4A3961EE2}"/>
              </a:ext>
            </a:extLst>
          </p:cNvPr>
          <p:cNvSpPr/>
          <p:nvPr/>
        </p:nvSpPr>
        <p:spPr>
          <a:xfrm>
            <a:off x="7163516" y="4730768"/>
            <a:ext cx="334804" cy="334804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EC4D444-F8CE-EF9A-CB61-5F5EF43643E9}"/>
              </a:ext>
            </a:extLst>
          </p:cNvPr>
          <p:cNvSpPr/>
          <p:nvPr/>
        </p:nvSpPr>
        <p:spPr>
          <a:xfrm>
            <a:off x="7257695" y="4780656"/>
            <a:ext cx="14644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5</a:t>
            </a:r>
            <a:endParaRPr lang="en-US" sz="18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1DD0333-36FB-F148-80FC-259981D6743F}"/>
              </a:ext>
            </a:extLst>
          </p:cNvPr>
          <p:cNvSpPr/>
          <p:nvPr/>
        </p:nvSpPr>
        <p:spPr>
          <a:xfrm>
            <a:off x="6255459" y="4095137"/>
            <a:ext cx="282666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Few-Shot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C5FB1CD-FE6C-9DAC-9547-AC2A07DBC261}"/>
              </a:ext>
            </a:extLst>
          </p:cNvPr>
          <p:cNvSpPr/>
          <p:nvPr/>
        </p:nvSpPr>
        <p:spPr>
          <a:xfrm>
            <a:off x="7483080" y="5560396"/>
            <a:ext cx="520898" cy="15240"/>
          </a:xfrm>
          <a:prstGeom prst="roundRect">
            <a:avLst>
              <a:gd name="adj" fmla="val 410222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F1BF468-609D-A163-D801-B8086286DBBF}"/>
              </a:ext>
            </a:extLst>
          </p:cNvPr>
          <p:cNvSpPr/>
          <p:nvPr/>
        </p:nvSpPr>
        <p:spPr>
          <a:xfrm>
            <a:off x="7163516" y="5400614"/>
            <a:ext cx="334804" cy="334804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6308CB4-5FCC-A043-3ECF-B9FD329950D4}"/>
              </a:ext>
            </a:extLst>
          </p:cNvPr>
          <p:cNvSpPr/>
          <p:nvPr/>
        </p:nvSpPr>
        <p:spPr>
          <a:xfrm>
            <a:off x="7256623" y="5450501"/>
            <a:ext cx="148471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6</a:t>
            </a:r>
            <a:endParaRPr lang="en-US" sz="18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8186872-EFBA-BD14-2E5F-156D82DB17AC}"/>
              </a:ext>
            </a:extLst>
          </p:cNvPr>
          <p:cNvSpPr/>
          <p:nvPr/>
        </p:nvSpPr>
        <p:spPr>
          <a:xfrm>
            <a:off x="6425864" y="5463593"/>
            <a:ext cx="195845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SBI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79480FE-B741-96CF-6A4C-44AEF4EF9D39}"/>
              </a:ext>
            </a:extLst>
          </p:cNvPr>
          <p:cNvSpPr/>
          <p:nvPr/>
        </p:nvSpPr>
        <p:spPr>
          <a:xfrm>
            <a:off x="520898" y="5772745"/>
            <a:ext cx="597562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44" name="Text 0">
            <a:extLst>
              <a:ext uri="{FF2B5EF4-FFF2-40B4-BE49-F238E27FC236}">
                <a16:creationId xmlns:a16="http://schemas.microsoft.com/office/drawing/2014/main" id="{2FF93A24-0F4A-491D-E900-D8318FF0EF77}"/>
              </a:ext>
            </a:extLst>
          </p:cNvPr>
          <p:cNvSpPr/>
          <p:nvPr/>
        </p:nvSpPr>
        <p:spPr>
          <a:xfrm>
            <a:off x="-1" y="789658"/>
            <a:ext cx="14630401" cy="489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algn="ctr">
              <a:lnSpc>
                <a:spcPts val="3850"/>
              </a:lnSpc>
              <a:buNone/>
            </a:pPr>
            <a:r>
              <a:rPr lang="en-US" sz="4450" b="1" dirty="0">
                <a:latin typeface="Alexandria Semi Bold" pitchFamily="34" charset="0"/>
                <a:cs typeface="Alexandria Semi Bold" pitchFamily="34" charset="-120"/>
              </a:rPr>
              <a:t>Road Map</a:t>
            </a:r>
          </a:p>
        </p:txBody>
      </p:sp>
      <p:sp>
        <p:nvSpPr>
          <p:cNvPr id="11" name="Shape 22">
            <a:extLst>
              <a:ext uri="{FF2B5EF4-FFF2-40B4-BE49-F238E27FC236}">
                <a16:creationId xmlns:a16="http://schemas.microsoft.com/office/drawing/2014/main" id="{8B631AE0-92F5-FDEF-1931-5D113063608A}"/>
              </a:ext>
            </a:extLst>
          </p:cNvPr>
          <p:cNvSpPr/>
          <p:nvPr/>
        </p:nvSpPr>
        <p:spPr>
          <a:xfrm>
            <a:off x="6671610" y="6312232"/>
            <a:ext cx="520898" cy="15240"/>
          </a:xfrm>
          <a:prstGeom prst="roundRect">
            <a:avLst>
              <a:gd name="adj" fmla="val 410222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F4FB58E5-5CBF-D9AD-3A51-BFB3B74F2148}"/>
              </a:ext>
            </a:extLst>
          </p:cNvPr>
          <p:cNvSpPr/>
          <p:nvPr/>
        </p:nvSpPr>
        <p:spPr>
          <a:xfrm>
            <a:off x="7178753" y="6137509"/>
            <a:ext cx="334804" cy="334804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1140598E-079B-ACE6-2921-02C1C2D1AD72}"/>
              </a:ext>
            </a:extLst>
          </p:cNvPr>
          <p:cNvSpPr/>
          <p:nvPr/>
        </p:nvSpPr>
        <p:spPr>
          <a:xfrm>
            <a:off x="7271920" y="6232379"/>
            <a:ext cx="148471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7</a:t>
            </a:r>
            <a:endParaRPr lang="en-US" sz="1850" dirty="0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6C83008D-4831-88B3-F449-71EBAECDD61A}"/>
              </a:ext>
            </a:extLst>
          </p:cNvPr>
          <p:cNvSpPr/>
          <p:nvPr/>
        </p:nvSpPr>
        <p:spPr>
          <a:xfrm>
            <a:off x="4619653" y="6189835"/>
            <a:ext cx="195845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Flow-Chart</a:t>
            </a:r>
            <a:r>
              <a:rPr lang="en-US" sz="1500" dirty="0">
                <a:solidFill>
                  <a:srgbClr val="3B3535"/>
                </a:solidFill>
                <a:latin typeface="Alexandria Semi Bold" pitchFamily="34" charset="0"/>
                <a:cs typeface="Alexandria Semi Bold" pitchFamily="34" charset="-120"/>
              </a:rPr>
              <a:t> </a:t>
            </a: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Overview</a:t>
            </a: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A3BE355B-D34B-4353-9D34-EF1CC6E4D610}"/>
              </a:ext>
            </a:extLst>
          </p:cNvPr>
          <p:cNvSpPr/>
          <p:nvPr/>
        </p:nvSpPr>
        <p:spPr>
          <a:xfrm>
            <a:off x="5391687" y="4770891"/>
            <a:ext cx="227159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InstructBLIP</a:t>
            </a: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7620989E-2B10-708D-91C0-42E51E440CA3}"/>
              </a:ext>
            </a:extLst>
          </p:cNvPr>
          <p:cNvSpPr/>
          <p:nvPr/>
        </p:nvSpPr>
        <p:spPr>
          <a:xfrm>
            <a:off x="7498377" y="7136635"/>
            <a:ext cx="520898" cy="15240"/>
          </a:xfrm>
          <a:prstGeom prst="roundRect">
            <a:avLst>
              <a:gd name="adj" fmla="val 410222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2C7C6087-AE7D-5AF5-6BCE-31E9D8D0F36F}"/>
              </a:ext>
            </a:extLst>
          </p:cNvPr>
          <p:cNvSpPr/>
          <p:nvPr/>
        </p:nvSpPr>
        <p:spPr>
          <a:xfrm>
            <a:off x="7178813" y="6976853"/>
            <a:ext cx="334804" cy="334804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FE1BB03-D00D-9793-82DF-6997D057BA3E}"/>
              </a:ext>
            </a:extLst>
          </p:cNvPr>
          <p:cNvSpPr/>
          <p:nvPr/>
        </p:nvSpPr>
        <p:spPr>
          <a:xfrm>
            <a:off x="7271920" y="7026740"/>
            <a:ext cx="148471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8</a:t>
            </a:r>
            <a:endParaRPr lang="en-US" sz="1850" dirty="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AF9B8D42-C2E2-6EAA-A81A-79A95CDFE9FD}"/>
              </a:ext>
            </a:extLst>
          </p:cNvPr>
          <p:cNvSpPr/>
          <p:nvPr/>
        </p:nvSpPr>
        <p:spPr>
          <a:xfrm>
            <a:off x="7123663" y="7044222"/>
            <a:ext cx="195845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Test</a:t>
            </a:r>
            <a:r>
              <a:rPr lang="en-US" sz="15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</a:t>
            </a:r>
            <a:r>
              <a:rPr lang="en-US" sz="1700" b="1" dirty="0">
                <a:latin typeface="Alexandria Semi Bold" panose="020B0604020202020204" charset="-78"/>
                <a:cs typeface="Alexandria Semi Bold" panose="020B0604020202020204" charset="-78"/>
              </a:rPr>
              <a:t>Plan</a:t>
            </a:r>
          </a:p>
        </p:txBody>
      </p:sp>
      <p:pic>
        <p:nvPicPr>
          <p:cNvPr id="27" name="גרפיקה 26" descr="תיבת סימון עם v עם מילוי מלא">
            <a:extLst>
              <a:ext uri="{FF2B5EF4-FFF2-40B4-BE49-F238E27FC236}">
                <a16:creationId xmlns:a16="http://schemas.microsoft.com/office/drawing/2014/main" id="{2D4B5C81-6AAF-9564-5760-782CAA4D8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7072" y="1892199"/>
            <a:ext cx="489586" cy="48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57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7EA23-1148-10D7-0237-9C6235DCE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3C40D9-B869-811C-52FE-63EA96CD2319}"/>
              </a:ext>
            </a:extLst>
          </p:cNvPr>
          <p:cNvSpPr/>
          <p:nvPr/>
        </p:nvSpPr>
        <p:spPr>
          <a:xfrm>
            <a:off x="1186" y="695459"/>
            <a:ext cx="14630399" cy="754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850"/>
              </a:lnSpc>
            </a:pPr>
            <a:r>
              <a:rPr lang="en-US" sz="4450" b="1" dirty="0">
                <a:latin typeface="Alexandria Semi Bold" pitchFamily="34" charset="0"/>
                <a:cs typeface="Alexandria Semi Bold" pitchFamily="34" charset="-120"/>
              </a:rPr>
              <a:t>How to Solve the Problem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3FCC7929-AD17-3B71-2094-4A11AA478E72}"/>
              </a:ext>
            </a:extLst>
          </p:cNvPr>
          <p:cNvSpPr txBox="1"/>
          <p:nvPr/>
        </p:nvSpPr>
        <p:spPr>
          <a:xfrm>
            <a:off x="1752414" y="2278229"/>
            <a:ext cx="10516995" cy="31239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atin typeface="Alexandria Semi Bold" pitchFamily="34" charset="0"/>
                <a:cs typeface="Alexandria Semi Bold" pitchFamily="34" charset="-120"/>
              </a:rPr>
              <a:t>How can deepfakes that have never seen before can be detected?</a:t>
            </a:r>
            <a:endParaRPr lang="af-ZA" sz="2400" b="1" dirty="0">
              <a:latin typeface="Alexandria Semi Bold" pitchFamily="34" charset="0"/>
              <a:cs typeface="Alexandria Semi Bold" pitchFamily="34" charset="-120"/>
            </a:endParaRPr>
          </a:p>
          <a:p>
            <a:endParaRPr lang="af-ZA" sz="2000" b="1" dirty="0">
              <a:latin typeface="Sitka Text Semibold" pitchFamily="2" charset="0"/>
              <a:cs typeface="Sora Light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The detector that should work without retraining.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b="1" dirty="0">
              <a:latin typeface="Sitka Text Semibold" pitchFamily="2" charset="0"/>
              <a:cs typeface="Sora Light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It should still perform well on new, unseen deepfake styles.</a:t>
            </a:r>
          </a:p>
          <a:p>
            <a:pPr lvl="1"/>
            <a:endParaRPr lang="en-US" sz="2000" b="1" dirty="0">
              <a:latin typeface="Sitka Text Semibold" pitchFamily="2" charset="0"/>
              <a:cs typeface="Sora Light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It should also give a confidence score, not just “real” or “fake”.</a:t>
            </a:r>
            <a:br>
              <a:rPr lang="af-ZA" dirty="0"/>
            </a:br>
            <a:endParaRPr lang="en-US" sz="1700" b="1" dirty="0">
              <a:latin typeface="Sitka Text Semibold" pitchFamily="2" charset="0"/>
              <a:cs typeface="Sora Light" pitchFamily="34" charset="-120"/>
            </a:endParaRPr>
          </a:p>
          <a:p>
            <a:endParaRPr lang="en-US" dirty="0"/>
          </a:p>
          <a:p>
            <a:endParaRPr lang="af-ZA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8DD0BC1E-4E81-E85F-B98D-FE98F7D26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" y="6876788"/>
            <a:ext cx="14630400" cy="135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66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C722-8537-6C4A-4A56-EBC7C1536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76D39DA-3C64-520C-E17D-4FE706936C2C}"/>
              </a:ext>
            </a:extLst>
          </p:cNvPr>
          <p:cNvSpPr txBox="1"/>
          <p:nvPr/>
        </p:nvSpPr>
        <p:spPr>
          <a:xfrm>
            <a:off x="1" y="710119"/>
            <a:ext cx="14630400" cy="416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4450" b="1" dirty="0">
                <a:latin typeface="Alexandria Semi Bold" pitchFamily="34" charset="0"/>
                <a:cs typeface="Alexandria Semi Bold" pitchFamily="34" charset="-120"/>
              </a:rPr>
              <a:t>The Solution: VLM-Based Probabilistic Detection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21C53E7F-783C-F24F-13ED-6239A1A5AFEA}"/>
                  </a:ext>
                </a:extLst>
              </p:cNvPr>
              <p:cNvSpPr txBox="1"/>
              <p:nvPr/>
            </p:nvSpPr>
            <p:spPr>
              <a:xfrm>
                <a:off x="1004301" y="1829302"/>
                <a:ext cx="13057688" cy="457099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it-IT" sz="2000" dirty="0">
                    <a:latin typeface="Sitka Text Semibold (גוף)"/>
                  </a:rPr>
                  <a:t>• The Innovation: Probabilistic Inference Algorithm.</a:t>
                </a:r>
              </a:p>
              <a:p>
                <a:pPr>
                  <a:lnSpc>
                    <a:spcPct val="200000"/>
                  </a:lnSpc>
                </a:pPr>
                <a:r>
                  <a:rPr lang="it-IT" sz="2000" dirty="0">
                    <a:latin typeface="Sitka Text Semibold (גוף)"/>
                  </a:rPr>
                  <a:t>    ◦ Extract token Probabilities for decision tokens ("Yes" / "No").</a:t>
                </a:r>
              </a:p>
              <a:p>
                <a:pPr>
                  <a:lnSpc>
                    <a:spcPct val="200000"/>
                  </a:lnSpc>
                </a:pPr>
                <a:r>
                  <a:rPr lang="it-IT" sz="2000" dirty="0">
                    <a:latin typeface="Sitka Text Semibold (גוף)"/>
                  </a:rPr>
                  <a:t>    ◦ Normalization: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L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𝐹𝑎𝑘𝑒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L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L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L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𝑦𝑒𝑠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L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𝑛𝑜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 .</a:t>
                </a:r>
                <a:endParaRPr lang="it-IT" sz="3200" dirty="0">
                  <a:latin typeface="Sitka Text Semibold (גוף)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it-IT" sz="2000" dirty="0">
                    <a:latin typeface="Sitka Text Semibold (גוף)"/>
                  </a:rPr>
                  <a:t>    ◦ Result: A continuous anomaly score, not just binary text.</a:t>
                </a:r>
              </a:p>
              <a:p>
                <a:pPr>
                  <a:lnSpc>
                    <a:spcPct val="200000"/>
                  </a:lnSpc>
                </a:pPr>
                <a:br>
                  <a:rPr lang="it-IT" sz="2400" dirty="0"/>
                </a:br>
                <a:endParaRPr lang="af-ZA" dirty="0"/>
              </a:p>
            </p:txBody>
          </p:sp>
        </mc:Choice>
        <mc:Fallback xmlns="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21C53E7F-783C-F24F-13ED-6239A1A5A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301" y="1829302"/>
                <a:ext cx="13057688" cy="4570995"/>
              </a:xfrm>
              <a:prstGeom prst="rect">
                <a:avLst/>
              </a:prstGeom>
              <a:blipFill>
                <a:blip r:embed="rId3"/>
                <a:stretch>
                  <a:fillRect l="-51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0">
            <a:extLst>
              <a:ext uri="{FF2B5EF4-FFF2-40B4-BE49-F238E27FC236}">
                <a16:creationId xmlns:a16="http://schemas.microsoft.com/office/drawing/2014/main" id="{525F068F-9291-C056-9091-555518975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" y="6876788"/>
            <a:ext cx="14630400" cy="135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227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7" y="882218"/>
            <a:ext cx="1463039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algn="ctr">
              <a:lnSpc>
                <a:spcPts val="1900"/>
              </a:lnSpc>
              <a:buNone/>
            </a:pPr>
            <a:r>
              <a:rPr lang="en-US" sz="4450" b="1" dirty="0">
                <a:latin typeface="Alexandria Semi Bold" pitchFamily="34" charset="0"/>
                <a:cs typeface="Alexandria Semi Bold" pitchFamily="34" charset="-120"/>
              </a:rPr>
              <a:t>Zero-Shot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94D72400-EDCE-9A4D-0392-FD9BBB5E329A}"/>
              </a:ext>
            </a:extLst>
          </p:cNvPr>
          <p:cNvSpPr txBox="1"/>
          <p:nvPr/>
        </p:nvSpPr>
        <p:spPr>
          <a:xfrm>
            <a:off x="1186884" y="1683365"/>
            <a:ext cx="12853020" cy="486287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Definition</a:t>
            </a:r>
            <a:r>
              <a:rPr lang="af-ZA" sz="2400" b="1" dirty="0">
                <a:solidFill>
                  <a:srgbClr val="587CB8"/>
                </a:solidFill>
                <a:latin typeface="Alexandria Semi Bold" pitchFamily="34" charset="0"/>
                <a:cs typeface="Alexandria Semi Bold" pitchFamily="34" charset="-120"/>
              </a:rPr>
              <a:t> </a:t>
            </a:r>
            <a:br>
              <a:rPr lang="af-ZA" sz="2400" b="1" dirty="0">
                <a:solidFill>
                  <a:srgbClr val="587CB8"/>
                </a:solidFill>
                <a:latin typeface="Alexandria Semi Bold" pitchFamily="34" charset="0"/>
                <a:cs typeface="Alexandria Semi Bold" pitchFamily="34" charset="-120"/>
              </a:rPr>
            </a:b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Performing a task without seeing any specific training examples for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587CB8"/>
              </a:solidFill>
              <a:latin typeface="Sitka Text Semibold" pitchFamily="2" charset="0"/>
              <a:cs typeface="Sora Light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lexandria Semi Bold" pitchFamily="34" charset="0"/>
                <a:cs typeface="Alexandria Semi Bold" pitchFamily="34" charset="-120"/>
              </a:rPr>
              <a:t>Why VLMs?</a:t>
            </a: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 </a:t>
            </a:r>
            <a:br>
              <a:rPr lang="af-ZA" dirty="0"/>
            </a:b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They are trained on internet-scale data, allowing them to understand general concepts.</a:t>
            </a:r>
          </a:p>
          <a:p>
            <a:endParaRPr lang="af-ZA" sz="2000" b="1" dirty="0">
              <a:latin typeface="Sitka Text Semibold" pitchFamily="2" charset="0"/>
              <a:cs typeface="Sora Light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Our Chosen Model: InstructBLIP </a:t>
            </a:r>
            <a:br>
              <a:rPr lang="af-ZA" sz="2400" b="1" dirty="0">
                <a:solidFill>
                  <a:srgbClr val="587CB8"/>
                </a:solidFill>
                <a:latin typeface="Alexandria Semi Bold" pitchFamily="34" charset="0"/>
                <a:cs typeface="Alexandria Semi Bold" pitchFamily="34" charset="-120"/>
              </a:rPr>
            </a:br>
            <a:br>
              <a:rPr lang="af-ZA" dirty="0"/>
            </a:br>
            <a:r>
              <a:rPr lang="af-ZA" dirty="0"/>
              <a:t>	• </a:t>
            </a:r>
            <a:r>
              <a:rPr lang="en-US" sz="2000" b="1" u="sng" dirty="0">
                <a:latin typeface="Sitka Text Semibold" pitchFamily="2" charset="0"/>
                <a:cs typeface="Sora Light" pitchFamily="34" charset="-120"/>
              </a:rPr>
              <a:t>Why InstructBLIP?</a:t>
            </a: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 It is the best model and most advanced technology available right now, 			          optimized with "Instruction Tuning".</a:t>
            </a:r>
            <a:br>
              <a:rPr lang="en-US" sz="2000" b="1" dirty="0">
                <a:latin typeface="Sitka Text Semibold" pitchFamily="2" charset="0"/>
                <a:cs typeface="Sora Light" pitchFamily="34" charset="-120"/>
              </a:rPr>
            </a:br>
            <a:br>
              <a:rPr lang="en-US" sz="2000" b="1" dirty="0">
                <a:latin typeface="Sitka Text Semibold" pitchFamily="2" charset="0"/>
                <a:cs typeface="Sora Light" pitchFamily="34" charset="-120"/>
              </a:rPr>
            </a:b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	</a:t>
            </a:r>
            <a:r>
              <a:rPr lang="af-ZA" sz="2000" dirty="0"/>
              <a:t>• </a:t>
            </a:r>
            <a:r>
              <a:rPr lang="en-US" sz="2000" b="1" u="sng" dirty="0">
                <a:latin typeface="Sitka Text Semibold" pitchFamily="2" charset="0"/>
                <a:cs typeface="Sora Light" pitchFamily="34" charset="-120"/>
              </a:rPr>
              <a:t>The Advantage:</a:t>
            </a: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 It is specifically designed to follow instructions (like "Is this photo real?") 			     better than standard models.</a:t>
            </a:r>
          </a:p>
          <a:p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	</a:t>
            </a:r>
          </a:p>
          <a:p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	</a:t>
            </a:r>
            <a:endParaRPr lang="he-IL" sz="2000" b="1" dirty="0">
              <a:latin typeface="Sitka Text Semibold" pitchFamily="2" charset="0"/>
            </a:endParaRP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894EEE07-CD7D-45C8-86B1-5B41B8EE3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" y="6876788"/>
            <a:ext cx="14630400" cy="135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70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0FF53-92FE-2C8F-39FB-DA92CFD5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A8BFBF-280F-AEAA-685C-4342CE1C65FD}"/>
              </a:ext>
            </a:extLst>
          </p:cNvPr>
          <p:cNvSpPr/>
          <p:nvPr/>
        </p:nvSpPr>
        <p:spPr>
          <a:xfrm>
            <a:off x="-1" y="867001"/>
            <a:ext cx="1463039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00"/>
              </a:lnSpc>
            </a:pPr>
            <a:r>
              <a:rPr lang="en-US" sz="4450" b="1" dirty="0">
                <a:latin typeface="Alexandria Semi Bold" pitchFamily="34" charset="0"/>
                <a:cs typeface="Alexandria Semi Bold" pitchFamily="34" charset="-120"/>
              </a:rPr>
              <a:t>Few-Shot Learning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4BDF8D61-17A6-F08A-D69C-8662BEF8748A}"/>
              </a:ext>
            </a:extLst>
          </p:cNvPr>
          <p:cNvSpPr txBox="1"/>
          <p:nvPr/>
        </p:nvSpPr>
        <p:spPr>
          <a:xfrm>
            <a:off x="760998" y="1702070"/>
            <a:ext cx="12853020" cy="40318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The Goal </a:t>
            </a:r>
            <a:br>
              <a:rPr lang="af-ZA" sz="2800" b="1" dirty="0">
                <a:solidFill>
                  <a:srgbClr val="587CB8"/>
                </a:solidFill>
                <a:latin typeface="Alexandria Semi Bold" pitchFamily="34" charset="0"/>
                <a:cs typeface="Alexandria Semi Bold" pitchFamily="34" charset="-120"/>
              </a:rPr>
            </a:br>
            <a:r>
              <a:rPr lang="en-US" sz="2400" b="1" dirty="0">
                <a:latin typeface="Sitka Text Semibold" pitchFamily="2" charset="0"/>
                <a:cs typeface="Sora Light" pitchFamily="34" charset="-120"/>
              </a:rPr>
              <a:t> </a:t>
            </a: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Teaching the model to detect specific new attacks using only a handful of examples (10% of data for training).</a:t>
            </a:r>
          </a:p>
          <a:p>
            <a:endParaRPr lang="en-US" sz="2000" b="1" dirty="0">
              <a:latin typeface="Sitka Text Semibold" pitchFamily="2" charset="0"/>
              <a:cs typeface="Sora Light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lexandria Semi Bold" pitchFamily="34" charset="0"/>
                <a:cs typeface="Alexandria Semi Bold" pitchFamily="34" charset="-120"/>
              </a:rPr>
              <a:t>The Method</a:t>
            </a: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 – Smart fine tuning (PEFT - Parameter-Efficient Fine-Tuning)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Sitka Text Semibold" pitchFamily="2" charset="0"/>
                <a:cs typeface="Sora Light" pitchFamily="34" charset="-120"/>
              </a:rPr>
              <a:t>Frozen</a:t>
            </a: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:</a:t>
            </a:r>
            <a:r>
              <a:rPr lang="en-US" sz="2000" dirty="0">
                <a:latin typeface="Sitka Text Semibold" pitchFamily="2" charset="0"/>
                <a:cs typeface="Sora Light" pitchFamily="34" charset="-120"/>
              </a:rPr>
              <a:t> The "Brain“ (LLM) and "Eyes" (Image Encoder) are locked.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Sitka Text Semibold" pitchFamily="2" charset="0"/>
                <a:cs typeface="Sora Light" pitchFamily="34" charset="-120"/>
              </a:rPr>
              <a:t>Trained</a:t>
            </a: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: Q-Former (The connector) is the only component that is updated.</a:t>
            </a:r>
          </a:p>
          <a:p>
            <a:endParaRPr lang="en-US" sz="2000" b="1" dirty="0">
              <a:latin typeface="Sitka Text Semibold" pitchFamily="2" charset="0"/>
              <a:cs typeface="Sora Light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lexandria Semi Bold" pitchFamily="34" charset="0"/>
                <a:cs typeface="Alexandria Semi Bold" pitchFamily="34" charset="-120"/>
              </a:rPr>
              <a:t>Key benefits</a:t>
            </a:r>
            <a:br>
              <a:rPr lang="af-ZA" sz="2000" dirty="0"/>
            </a:br>
            <a:r>
              <a:rPr lang="af-ZA" sz="2000" dirty="0">
                <a:latin typeface="Sitka Text Semibold" pitchFamily="2" charset="0"/>
              </a:rPr>
              <a:t>	• </a:t>
            </a:r>
            <a:r>
              <a:rPr lang="de-DE" sz="2000" b="1" u="sng" dirty="0">
                <a:latin typeface="Sitka Text Semibold" pitchFamily="2" charset="0"/>
                <a:cs typeface="Sora Light" pitchFamily="34" charset="-120"/>
              </a:rPr>
              <a:t>Speed</a:t>
            </a:r>
            <a:r>
              <a:rPr lang="de-DE" sz="2000" b="1" dirty="0">
                <a:latin typeface="Sitka Text Semibold" pitchFamily="2" charset="0"/>
                <a:cs typeface="Sora Light" pitchFamily="34" charset="-120"/>
              </a:rPr>
              <a:t>:</a:t>
            </a:r>
            <a:r>
              <a:rPr lang="de-DE" sz="2000" b="1" dirty="0">
                <a:solidFill>
                  <a:srgbClr val="587CB8"/>
                </a:solidFill>
                <a:latin typeface="Sitka Text Semibold" pitchFamily="2" charset="0"/>
                <a:cs typeface="Sora Light" pitchFamily="34" charset="-120"/>
              </a:rPr>
              <a:t> </a:t>
            </a: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Training takes minutes, not days.</a:t>
            </a:r>
            <a:br>
              <a:rPr lang="en-US" sz="2000" b="1" dirty="0">
                <a:latin typeface="Sitka Text Semibold" pitchFamily="2" charset="0"/>
                <a:cs typeface="Sora Light" pitchFamily="34" charset="-120"/>
              </a:rPr>
            </a:b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	</a:t>
            </a:r>
            <a:r>
              <a:rPr lang="af-ZA" sz="2000" dirty="0">
                <a:latin typeface="Sitka Text Semibold" pitchFamily="2" charset="0"/>
              </a:rPr>
              <a:t>• </a:t>
            </a:r>
            <a:r>
              <a:rPr lang="en-US" sz="2000" b="1" u="sng" dirty="0">
                <a:latin typeface="Sitka Text Semibold" pitchFamily="2" charset="0"/>
                <a:cs typeface="Sora Light" pitchFamily="34" charset="-120"/>
              </a:rPr>
              <a:t>Safety</a:t>
            </a: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: Prevents "forgetting" general knowledge.</a:t>
            </a:r>
          </a:p>
          <a:p>
            <a:pPr lvl="2"/>
            <a:r>
              <a:rPr lang="af-ZA" sz="2000" dirty="0">
                <a:latin typeface="Sitka Text Semibold" pitchFamily="2" charset="0"/>
              </a:rPr>
              <a:t>• </a:t>
            </a:r>
            <a:r>
              <a:rPr lang="en-US" sz="2000" b="1" u="sng" dirty="0">
                <a:latin typeface="Sitka Text Semibold" pitchFamily="2" charset="0"/>
                <a:cs typeface="Sora Light" pitchFamily="34" charset="-120"/>
              </a:rPr>
              <a:t>Performance</a:t>
            </a: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:</a:t>
            </a:r>
            <a:r>
              <a:rPr lang="en-US" sz="2000" b="1" dirty="0">
                <a:solidFill>
                  <a:srgbClr val="587CB8"/>
                </a:solidFill>
                <a:latin typeface="Sitka Text Semibold" pitchFamily="2" charset="0"/>
                <a:cs typeface="Sora Light" pitchFamily="34" charset="-120"/>
              </a:rPr>
              <a:t> </a:t>
            </a: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Achieves near-perfect accuracy on DFDC-P. </a:t>
            </a: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797DD868-CB44-7CE0-644C-7B53AC3F2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876789"/>
            <a:ext cx="14630400" cy="135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59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C77B2-E74E-501D-BD47-8D955FD2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174EF345-BFED-EB21-D9DF-754F78CE7EA5}"/>
              </a:ext>
            </a:extLst>
          </p:cNvPr>
          <p:cNvSpPr/>
          <p:nvPr/>
        </p:nvSpPr>
        <p:spPr>
          <a:xfrm>
            <a:off x="0" y="698097"/>
            <a:ext cx="14630400" cy="88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ts val="1900"/>
              </a:lnSpc>
              <a:buNone/>
            </a:pPr>
            <a:r>
              <a:rPr lang="af-ZA" sz="4450" b="1" dirty="0">
                <a:latin typeface="Alexandria Semi Bold" pitchFamily="34" charset="0"/>
                <a:cs typeface="Alexandria Semi Bold" pitchFamily="34" charset="-120"/>
              </a:rPr>
              <a:t>Traditional Detection SBI</a:t>
            </a:r>
            <a:endParaRPr lang="en-US" sz="4450" b="1" dirty="0">
              <a:latin typeface="Alexandria Semi Bold" pitchFamily="34" charset="0"/>
              <a:cs typeface="Alexandria Semi Bold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85A8CDD4-87C6-D639-223A-041B63D0F6AB}"/>
                  </a:ext>
                </a:extLst>
              </p:cNvPr>
              <p:cNvSpPr txBox="1"/>
              <p:nvPr/>
            </p:nvSpPr>
            <p:spPr>
              <a:xfrm>
                <a:off x="265424" y="1151198"/>
                <a:ext cx="12853020" cy="660847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marL="342900" indent="-3429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Alexandria Semi Bold" pitchFamily="34" charset="0"/>
                    <a:cs typeface="Alexandria Semi Bold" pitchFamily="34" charset="-120"/>
                  </a:rPr>
                  <a:t>The Baseline: Self-Blended Images (SBI)</a:t>
                </a:r>
                <a:br>
                  <a:rPr lang="af-ZA" sz="2400" b="1" dirty="0">
                    <a:latin typeface="Alexandria Semi Bold" pitchFamily="34" charset="0"/>
                    <a:cs typeface="Alexandria Semi Bold" pitchFamily="34" charset="-120"/>
                  </a:rPr>
                </a:br>
                <a: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  <a:t>Concept: A synthetic training strategy for training binary classifiers (e.g., </a:t>
                </a:r>
                <a:r>
                  <a:rPr lang="en-US" sz="2000" b="1" dirty="0" err="1">
                    <a:latin typeface="Sitka Text Semibold" pitchFamily="2" charset="0"/>
                    <a:cs typeface="Sora Light" pitchFamily="34" charset="-120"/>
                  </a:rPr>
                  <a:t>EfficientNet</a:t>
                </a:r>
                <a: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  <a:t>).</a:t>
                </a:r>
                <a:b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</a:br>
                <a:endParaRPr lang="en-US" sz="2000" b="1" dirty="0">
                  <a:latin typeface="Sitka Text Semibold" pitchFamily="2" charset="0"/>
                  <a:cs typeface="Sora Light" pitchFamily="34" charset="-120"/>
                </a:endParaRPr>
              </a:p>
              <a:p>
                <a:pPr marL="342900" indent="-3429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af-ZA" sz="2400" b="1" dirty="0">
                    <a:latin typeface="Alexandria Semi Bold" pitchFamily="34" charset="0"/>
                    <a:cs typeface="Alexandria Semi Bold" pitchFamily="34" charset="-120"/>
                  </a:rPr>
                  <a:t> The "Self-Blending" Innovation</a:t>
                </a:r>
                <a:br>
                  <a:rPr lang="af-ZA" dirty="0"/>
                </a:br>
                <a: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  <a:t>Instead of swapping faces between two different people, SBI uses a single flawless image.</a:t>
                </a:r>
                <a:endParaRPr lang="af-ZA" sz="2000" b="1" dirty="0">
                  <a:latin typeface="Sitka Text Semibold" pitchFamily="2" charset="0"/>
                  <a:cs typeface="Sora Light" pitchFamily="34" charset="-120"/>
                </a:endParaRPr>
              </a:p>
              <a:p>
                <a:pPr marL="342900" indent="-3429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endParaRPr lang="af-ZA" sz="2000" b="1" dirty="0">
                  <a:solidFill>
                    <a:srgbClr val="587CB8"/>
                  </a:solidFill>
                  <a:latin typeface="Alexandria Semi Bold" pitchFamily="34" charset="0"/>
                  <a:cs typeface="Alexandria Semi Bold" pitchFamily="34" charset="-120"/>
                </a:endParaRPr>
              </a:p>
              <a:p>
                <a:pPr marL="457200" indent="-4572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af-ZA" sz="2400" b="1" dirty="0">
                    <a:latin typeface="Alexandria Semi Bold" pitchFamily="34" charset="0"/>
                    <a:cs typeface="Alexandria Semi Bold" pitchFamily="34" charset="-120"/>
                  </a:rPr>
                  <a:t>Process</a:t>
                </a:r>
              </a:p>
              <a:p>
                <a:pPr>
                  <a:lnSpc>
                    <a:spcPts val="3000"/>
                  </a:lnSpc>
                </a:pPr>
                <a:r>
                  <a:rPr lang="en-US" dirty="0"/>
                  <a:t>	</a:t>
                </a:r>
                <a: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  <a:t>Source and Target are the same image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ora Light" pitchFamily="34" charset="-120"/>
                      </a:rPr>
                      <m:t>→</m:t>
                    </m:r>
                  </m:oMath>
                </a14:m>
                <a: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  <a:t> Apply augmentation (Geometric, color/frequency) to 	Source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ora Light" pitchFamily="34" charset="-120"/>
                      </a:rPr>
                      <m:t>→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ora Light" pitchFamily="34" charset="-120"/>
                      </a:rPr>
                      <m:t>  </m:t>
                    </m:r>
                  </m:oMath>
                </a14:m>
                <a:r>
                  <a:rPr lang="af-ZA" sz="2000" b="1" dirty="0">
                    <a:latin typeface="Sitka Text Semibold" pitchFamily="2" charset="0"/>
                    <a:cs typeface="Sora Light" pitchFamily="34" charset="-120"/>
                  </a:rPr>
                  <a:t>Blend back onto Target.</a:t>
                </a:r>
                <a:br>
                  <a:rPr lang="af-ZA" sz="2000" b="1" dirty="0">
                    <a:latin typeface="Sitka Text Semibold" pitchFamily="2" charset="0"/>
                    <a:cs typeface="Sora Light" pitchFamily="34" charset="-120"/>
                  </a:rPr>
                </a:br>
                <a:endParaRPr lang="af-ZA" sz="2000" b="1" dirty="0">
                  <a:latin typeface="Sitka Text Semibold" pitchFamily="2" charset="0"/>
                  <a:cs typeface="Sora Light" pitchFamily="34" charset="-120"/>
                </a:endParaRPr>
              </a:p>
              <a:p>
                <a:pPr marL="457200" indent="-4572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af-ZA" sz="2400" b="1" dirty="0">
                    <a:latin typeface="Alexandria Semi Bold" pitchFamily="34" charset="0"/>
                    <a:cs typeface="Alexandria Semi Bold" pitchFamily="34" charset="-120"/>
                  </a:rPr>
                  <a:t>Detection Focus</a:t>
                </a:r>
              </a:p>
              <a:p>
                <a:pPr marL="800100" lvl="1" indent="-3429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  <a:t>Trains models to spot Blending Boundaries and statistical inconsistencies.	</a:t>
                </a:r>
                <a:b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</a:br>
                <a:endParaRPr lang="en-US" sz="2000" b="1" dirty="0">
                  <a:latin typeface="Sitka Text Semibold" pitchFamily="2" charset="0"/>
                  <a:cs typeface="Sora Light" pitchFamily="34" charset="-120"/>
                </a:endParaRPr>
              </a:p>
              <a:p>
                <a:pPr marL="457200" indent="-4572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af-ZA" sz="2400" b="1" dirty="0">
                    <a:latin typeface="Alexandria Semi Bold" pitchFamily="34" charset="0"/>
                    <a:cs typeface="Alexandria Semi Bold" pitchFamily="34" charset="-120"/>
                  </a:rPr>
                  <a:t> Limitation ("The Pixel Detective")</a:t>
                </a:r>
              </a:p>
              <a:p>
                <a:pPr marL="800100" lvl="1" indent="-3429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  <a:t>Lacks semantic understanding.</a:t>
                </a:r>
              </a:p>
              <a:p>
                <a:pPr marL="800100" lvl="1" indent="-3429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af-ZA" sz="2000" b="1" dirty="0">
                    <a:latin typeface="Sitka Text Semibold" pitchFamily="2" charset="0"/>
                    <a:cs typeface="Sora Light" pitchFamily="34" charset="-120"/>
                  </a:rPr>
                  <a:t>Overfits to specific spatial atricfats.</a:t>
                </a:r>
              </a:p>
              <a:p>
                <a:pPr marL="800100" lvl="1" indent="-3429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af-ZA" sz="2000" b="1" dirty="0">
                    <a:latin typeface="Sitka Text Semibold" pitchFamily="2" charset="0"/>
                    <a:cs typeface="Sora Light" pitchFamily="34" charset="-120"/>
                  </a:rPr>
                  <a:t>Fails on Whole-Image Synthesis (where no blending occurs)</a:t>
                </a:r>
                <a:endParaRPr lang="en-US" sz="2000" b="1" dirty="0">
                  <a:solidFill>
                    <a:srgbClr val="587CB8"/>
                  </a:solidFill>
                  <a:latin typeface="Alexandria Semi Bold" pitchFamily="34" charset="0"/>
                  <a:cs typeface="Alexandria Semi Bold" pitchFamily="34" charset="-120"/>
                </a:endParaRPr>
              </a:p>
            </p:txBody>
          </p:sp>
        </mc:Choice>
        <mc:Fallback xmlns="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85A8CDD4-87C6-D639-223A-041B63D0F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24" y="1151198"/>
                <a:ext cx="12853020" cy="6608476"/>
              </a:xfrm>
              <a:prstGeom prst="rect">
                <a:avLst/>
              </a:prstGeom>
              <a:blipFill>
                <a:blip r:embed="rId3"/>
                <a:stretch>
                  <a:fillRect l="-664" t="-738" b="-73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0">
            <a:extLst>
              <a:ext uri="{FF2B5EF4-FFF2-40B4-BE49-F238E27FC236}">
                <a16:creationId xmlns:a16="http://schemas.microsoft.com/office/drawing/2014/main" id="{54CCA37F-CE57-99D0-18FA-A8507B4D4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9839196" y="3438395"/>
            <a:ext cx="8229598" cy="135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5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DDED-99E5-955D-43D3-940E84410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27676CB1-37A6-4858-2E20-CAFC182EC39B}"/>
              </a:ext>
            </a:extLst>
          </p:cNvPr>
          <p:cNvSpPr/>
          <p:nvPr/>
        </p:nvSpPr>
        <p:spPr>
          <a:xfrm>
            <a:off x="0" y="710119"/>
            <a:ext cx="14630400" cy="88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ts val="5600"/>
              </a:lnSpc>
              <a:buNone/>
            </a:pPr>
            <a:r>
              <a:rPr lang="af-ZA" sz="4450" b="1" dirty="0">
                <a:latin typeface="Alexandria Semi Bold" pitchFamily="34" charset="0"/>
                <a:cs typeface="Alexandria Semi Bold" pitchFamily="34" charset="-120"/>
              </a:rPr>
              <a:t>InstructBLIP Goal &amp; Core Idea</a:t>
            </a:r>
            <a:endParaRPr lang="en-US" sz="4450" b="1" dirty="0">
              <a:latin typeface="Alexandria Semi Bold" pitchFamily="34" charset="0"/>
              <a:cs typeface="Alexandria Semi Bold" pitchFamily="34" charset="-120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73D833B8-FC20-D486-552F-5E70721F914F}"/>
              </a:ext>
            </a:extLst>
          </p:cNvPr>
          <p:cNvSpPr txBox="1"/>
          <p:nvPr/>
        </p:nvSpPr>
        <p:spPr>
          <a:xfrm>
            <a:off x="488649" y="1915823"/>
            <a:ext cx="12853020" cy="53245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The Problem </a:t>
            </a:r>
            <a:br>
              <a:rPr lang="af-ZA" sz="2400" b="1" dirty="0">
                <a:solidFill>
                  <a:srgbClr val="587CB8"/>
                </a:solidFill>
                <a:latin typeface="Alexandria Semi Bold" pitchFamily="34" charset="0"/>
                <a:cs typeface="Alexandria Semi Bold" pitchFamily="34" charset="-120"/>
              </a:rPr>
            </a:b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How can one model solve any visual task using simple text instructions?</a:t>
            </a:r>
          </a:p>
          <a:p>
            <a:endParaRPr lang="en-US" sz="2000" b="1" dirty="0">
              <a:latin typeface="Sitka Text Semibold" pitchFamily="2" charset="0"/>
              <a:cs typeface="Sora Light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The Challenge</a:t>
            </a:r>
            <a:br>
              <a:rPr lang="af-ZA" dirty="0"/>
            </a:b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LLMs cannot see images, and standard vision models cannot understand complex instructions.</a:t>
            </a:r>
            <a:endParaRPr lang="af-ZA" sz="2000" b="1" dirty="0">
              <a:latin typeface="Sitka Text Semibold" pitchFamily="2" charset="0"/>
              <a:cs typeface="Sora Light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af-ZA" sz="2000" b="1" dirty="0">
              <a:solidFill>
                <a:srgbClr val="587CB8"/>
              </a:solidFill>
              <a:latin typeface="Alexandria Semi Bold" pitchFamily="34" charset="0"/>
              <a:cs typeface="Alexandria Semi Bold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The Solution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Take a strong Image Encoder.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Take a strong LLM.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Freeze both of them (do not retrain them).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Train a small, smart "Bridge" (Q-Former) to connect them.</a:t>
            </a:r>
          </a:p>
          <a:p>
            <a:endParaRPr lang="af-ZA" sz="2400" b="1" dirty="0">
              <a:solidFill>
                <a:srgbClr val="587CB8"/>
              </a:solidFill>
              <a:latin typeface="Alexandria Semi Bold" pitchFamily="34" charset="0"/>
              <a:cs typeface="Alexandria Semi Bold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Key Concept</a:t>
            </a:r>
            <a:br>
              <a:rPr lang="af-ZA" sz="2000" b="1" dirty="0">
                <a:solidFill>
                  <a:srgbClr val="587CB8"/>
                </a:solidFill>
                <a:latin typeface="Alexandria Semi Bold" pitchFamily="34" charset="0"/>
                <a:cs typeface="Alexandria Semi Bold" pitchFamily="34" charset="-120"/>
              </a:rPr>
            </a:b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Only the bridge learns how to pass information; the experts (vision and language) stay stable.	</a:t>
            </a:r>
          </a:p>
          <a:p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	</a:t>
            </a:r>
            <a:endParaRPr lang="he-IL" sz="2000" b="1" dirty="0">
              <a:latin typeface="Sitka Text Semibold" pitchFamily="2" charset="0"/>
            </a:endParaRP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8DB9680A-9DB9-0214-6B4D-109EDFB84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839196" y="3438395"/>
            <a:ext cx="8229598" cy="135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664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3BD6E-526A-D9EB-D7BA-7C112CB6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6EC0D6-83A2-4939-C2DF-98ABBDD7760D}"/>
              </a:ext>
            </a:extLst>
          </p:cNvPr>
          <p:cNvSpPr/>
          <p:nvPr/>
        </p:nvSpPr>
        <p:spPr>
          <a:xfrm>
            <a:off x="0" y="202119"/>
            <a:ext cx="14630400" cy="88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ts val="5600"/>
              </a:lnSpc>
              <a:buNone/>
            </a:pPr>
            <a:r>
              <a:rPr lang="af-ZA" sz="4450" b="1" dirty="0">
                <a:latin typeface="Alexandria Semi Bold" pitchFamily="34" charset="0"/>
                <a:cs typeface="Alexandria Semi Bold" pitchFamily="34" charset="-120"/>
              </a:rPr>
              <a:t>InstructBLIP Architecture</a:t>
            </a:r>
            <a:endParaRPr lang="en-US" sz="4450" b="1" dirty="0">
              <a:latin typeface="Alexandria Semi Bold" pitchFamily="34" charset="0"/>
              <a:cs typeface="Alexandria Semi Bold" pitchFamily="34" charset="-120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F469C57C-6675-B698-A057-355AFC8E2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77" y="1087336"/>
            <a:ext cx="9900716" cy="4155491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66652FF-D41A-0C3B-1AB6-51BFC3EF1D81}"/>
              </a:ext>
            </a:extLst>
          </p:cNvPr>
          <p:cNvSpPr txBox="1"/>
          <p:nvPr/>
        </p:nvSpPr>
        <p:spPr>
          <a:xfrm>
            <a:off x="1068477" y="5408221"/>
            <a:ext cx="1430569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Inference Flow: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Image &amp; Instruction enter the system.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The Image Encoder get the input image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Q-Former extracts specific visual features based on the instruction.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Linear Projection aligns features to the LLM.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LLM receives visual "soft prompts" + text to generate the answer.</a:t>
            </a:r>
            <a:endParaRPr lang="fr-FR" sz="2000" b="1" dirty="0">
              <a:latin typeface="Sitka Text Semibold" pitchFamily="2" charset="0"/>
              <a:cs typeface="Sora Light" pitchFamily="34" charset="-120"/>
            </a:endParaRP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DC892171-A8A0-4059-2CED-4E256E1BE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9839196" y="3438395"/>
            <a:ext cx="8229598" cy="135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06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0B30-73C0-0DBF-A496-60EA8643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C88770C9-862E-4CAD-3A1F-A5B31D1A1E4F}"/>
              </a:ext>
            </a:extLst>
          </p:cNvPr>
          <p:cNvSpPr/>
          <p:nvPr/>
        </p:nvSpPr>
        <p:spPr>
          <a:xfrm>
            <a:off x="-868101" y="413088"/>
            <a:ext cx="14630400" cy="88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ts val="5600"/>
              </a:lnSpc>
              <a:buNone/>
            </a:pPr>
            <a:r>
              <a:rPr lang="af-ZA" sz="4450" b="1" dirty="0">
                <a:latin typeface="Alexandria Semi Bold" pitchFamily="34" charset="0"/>
                <a:cs typeface="Alexandria Semi Bold" pitchFamily="34" charset="-120"/>
              </a:rPr>
              <a:t>The Image Encoder</a:t>
            </a:r>
            <a:endParaRPr lang="en-US" sz="4450" b="1" dirty="0">
              <a:latin typeface="Alexandria Semi Bold" pitchFamily="34" charset="0"/>
              <a:cs typeface="Alexandria Semi Bold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E5530AA8-4185-D7F5-87A1-8B3C443B559B}"/>
                  </a:ext>
                </a:extLst>
              </p:cNvPr>
              <p:cNvSpPr txBox="1"/>
              <p:nvPr/>
            </p:nvSpPr>
            <p:spPr>
              <a:xfrm>
                <a:off x="-66935" y="1726598"/>
                <a:ext cx="13319948" cy="624786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af-ZA" sz="2400" b="1" dirty="0">
                    <a:latin typeface="Alexandria Semi Bold" pitchFamily="34" charset="0"/>
                    <a:cs typeface="Alexandria Semi Bold" pitchFamily="34" charset="-120"/>
                  </a:rPr>
                  <a:t>Input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</a:rPr>
                  <a:t>Image</a:t>
                </a:r>
              </a:p>
              <a:p>
                <a:pPr lvl="1"/>
                <a:endParaRPr lang="af-ZA" sz="2400" b="1" dirty="0">
                  <a:latin typeface="Alexandria Semi Bold" pitchFamily="34" charset="0"/>
                  <a:cs typeface="Alexandria Semi Bold" pitchFamily="34" charset="-12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af-ZA" sz="2400" b="1" dirty="0">
                    <a:latin typeface="Alexandria Semi Bold" pitchFamily="34" charset="0"/>
                    <a:cs typeface="Alexandria Semi Bold" pitchFamily="34" charset="-120"/>
                  </a:rPr>
                  <a:t>The Vision Transformer (What It Does)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</a:rPr>
                  <a:t>Split image into fixed-size patches.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</a:rPr>
                  <a:t>Flatten each patch into a vector.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</a:rPr>
                  <a:t>Map it with a linear layer to an embedding dimension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</a:rPr>
                  <a:t>Add positional embedding (because attention alone doesn’t know the positional order).</a:t>
                </a:r>
              </a:p>
              <a:p>
                <a:endParaRPr lang="af-ZA" sz="2000" b="1" dirty="0">
                  <a:solidFill>
                    <a:srgbClr val="587CB8"/>
                  </a:solidFill>
                  <a:latin typeface="Alexandria Semi Bold" pitchFamily="34" charset="0"/>
                  <a:cs typeface="Alexandria Semi Bold" pitchFamily="34" charset="-12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Alexandria Semi Bold" pitchFamily="34" charset="0"/>
                    <a:cs typeface="Alexandria Semi Bold" pitchFamily="34" charset="-120"/>
                  </a:rPr>
                  <a:t>Numerical data</a:t>
                </a:r>
                <a:endParaRPr lang="af-ZA" sz="2400" b="1" dirty="0">
                  <a:latin typeface="Alexandria Semi Bold" pitchFamily="34" charset="0"/>
                  <a:cs typeface="Alexandria Semi Bold" pitchFamily="34" charset="-120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af-ZA" sz="2000" b="1" u="sng" dirty="0">
                    <a:latin typeface="Sitka Text Semibold" pitchFamily="2" charset="0"/>
                  </a:rPr>
                  <a:t>Image</a:t>
                </a:r>
                <a:r>
                  <a:rPr lang="af-ZA" sz="2000" b="1" dirty="0">
                    <a:latin typeface="Sitka Text Semibold" pitchFamily="2" charset="0"/>
                  </a:rPr>
                  <a:t>: 224×224×3(R,G,B)</a:t>
                </a:r>
                <a:r>
                  <a:rPr lang="en-US" sz="2000" b="1" dirty="0">
                    <a:latin typeface="Sitka Text Semibold" pitchFamily="2" charset="0"/>
                  </a:rPr>
                  <a:t>.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af-ZA" sz="2000" b="1" u="sng" dirty="0">
                    <a:latin typeface="Sitka Text Semibold" pitchFamily="2" charset="0"/>
                  </a:rPr>
                  <a:t>Patch size</a:t>
                </a:r>
                <a:r>
                  <a:rPr lang="af-ZA" sz="2000" b="1" dirty="0">
                    <a:latin typeface="Sitka Text Semibold" pitchFamily="2" charset="0"/>
                  </a:rPr>
                  <a:t>: 16×16 .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b="1" u="sng" dirty="0">
                    <a:latin typeface="Sitka Text Semibold" pitchFamily="2" charset="0"/>
                  </a:rPr>
                  <a:t>Number of patches</a:t>
                </a:r>
                <a:r>
                  <a:rPr lang="en-US" sz="2000" b="1" dirty="0">
                    <a:latin typeface="Sitka Text Semibold" pitchFamily="2" charset="0"/>
                  </a:rPr>
                  <a:t>: (224/16)×(224/16)=14×14=196 patches, Each patch becomes 1 token (1 vector).</a:t>
                </a:r>
              </a:p>
              <a:p>
                <a:pPr lvl="1"/>
                <a:endParaRPr lang="en-US" sz="2000" b="1" dirty="0">
                  <a:latin typeface="Sitka Text Semibold" pitchFamily="2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Alexandria Semi Bold" pitchFamily="34" charset="0"/>
                    <a:cs typeface="Alexandria Semi Bold" pitchFamily="34" charset="-120"/>
                  </a:rPr>
                  <a:t>Output of the Vision Encoder</a:t>
                </a:r>
                <a:endParaRPr lang="af-ZA" sz="2400" b="1" dirty="0">
                  <a:latin typeface="Alexandria Semi Bold" pitchFamily="34" charset="0"/>
                  <a:cs typeface="Alexandria Semi Bold" pitchFamily="34" charset="-120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</a:rPr>
                  <a:t>A sequence of visual embeddings: 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b="1" dirty="0">
                  <a:latin typeface="Sitka Text Semibold" pitchFamily="2" charset="0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</a:rPr>
                  <a:t>These are “deep visual features”, not pixels.</a:t>
                </a:r>
              </a:p>
              <a:p>
                <a:pPr lvl="1"/>
                <a:endParaRPr lang="en-US" sz="2000" b="1" dirty="0">
                  <a:latin typeface="Sitka Text Semibold" pitchFamily="2" charset="0"/>
                </a:endParaRPr>
              </a:p>
              <a:p>
                <a: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  <a:t>	</a:t>
                </a:r>
                <a:endParaRPr lang="he-IL" sz="2000" b="1" dirty="0">
                  <a:latin typeface="Sitka Text Semibold" pitchFamily="2" charset="0"/>
                </a:endParaRPr>
              </a:p>
            </p:txBody>
          </p:sp>
        </mc:Choice>
        <mc:Fallback xmlns="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E5530AA8-4185-D7F5-87A1-8B3C443B5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6935" y="1726598"/>
                <a:ext cx="13319948" cy="6247864"/>
              </a:xfrm>
              <a:prstGeom prst="rect">
                <a:avLst/>
              </a:prstGeom>
              <a:blipFill>
                <a:blip r:embed="rId3"/>
                <a:stretch>
                  <a:fillRect l="-595" t="-683" r="-1053" b="-7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 descr="תמונה שמכילה טקסט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BBE5359-5B44-C98B-B27C-2EE39254B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561" y="210809"/>
            <a:ext cx="3148452" cy="2896004"/>
          </a:xfrm>
          <a:prstGeom prst="rect">
            <a:avLst/>
          </a:prstGeom>
        </p:spPr>
      </p:pic>
      <p:pic>
        <p:nvPicPr>
          <p:cNvPr id="3" name="Image 0">
            <a:extLst>
              <a:ext uri="{FF2B5EF4-FFF2-40B4-BE49-F238E27FC236}">
                <a16:creationId xmlns:a16="http://schemas.microsoft.com/office/drawing/2014/main" id="{C63DF81D-79F7-77A7-A659-3837D4BE9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9839196" y="3438395"/>
            <a:ext cx="8229598" cy="135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81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3293-64E1-905B-D6F7-BE6EA20D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AB6E9E5A-6E0A-3864-0AF6-2F1EC2517A65}"/>
              </a:ext>
            </a:extLst>
          </p:cNvPr>
          <p:cNvSpPr/>
          <p:nvPr/>
        </p:nvSpPr>
        <p:spPr>
          <a:xfrm>
            <a:off x="0" y="710119"/>
            <a:ext cx="14630400" cy="88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ts val="5600"/>
              </a:lnSpc>
              <a:buNone/>
            </a:pPr>
            <a:r>
              <a:rPr lang="af-ZA" sz="4450" b="1" dirty="0">
                <a:latin typeface="Alexandria Semi Bold" pitchFamily="34" charset="0"/>
                <a:cs typeface="Alexandria Semi Bold" pitchFamily="34" charset="-120"/>
              </a:rPr>
              <a:t>The Bridge (Q-Former)</a:t>
            </a:r>
            <a:endParaRPr lang="en-US" sz="4450" b="1" dirty="0">
              <a:latin typeface="Alexandria Semi Bold" pitchFamily="34" charset="0"/>
              <a:cs typeface="Alexandria Semi Bold" pitchFamily="34" charset="-120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30E0F7A-D220-6656-E315-80DD9F94363C}"/>
              </a:ext>
            </a:extLst>
          </p:cNvPr>
          <p:cNvSpPr txBox="1"/>
          <p:nvPr/>
        </p:nvSpPr>
        <p:spPr>
          <a:xfrm>
            <a:off x="0" y="1671726"/>
            <a:ext cx="13204102" cy="58477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af-ZA" sz="2400" b="1" dirty="0">
              <a:latin typeface="Alexandria Semi Bold" pitchFamily="34" charset="0"/>
              <a:cs typeface="Alexandria Semi Bold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lexandria Semi Bold" pitchFamily="34" charset="0"/>
                <a:cs typeface="Alexandria Semi Bold" pitchFamily="34" charset="-120"/>
              </a:rPr>
              <a:t>What goes into the Q-Former</a:t>
            </a:r>
            <a:endParaRPr lang="af-ZA" sz="2400" b="1" dirty="0">
              <a:latin typeface="Alexandria Semi Bold" pitchFamily="34" charset="0"/>
              <a:cs typeface="Alexandria Semi Bold" pitchFamily="34" charset="-12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af-ZA" sz="2000" b="1" dirty="0">
                <a:latin typeface="Sitka Text Semibold" pitchFamily="2" charset="0"/>
              </a:rPr>
              <a:t>Image embeddings (from frozen Vision Encoder)</a:t>
            </a:r>
            <a:r>
              <a:rPr lang="en-US" sz="2000" b="1" dirty="0">
                <a:latin typeface="Sitka Text Semibold" pitchFamily="2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itka Text Semibold" pitchFamily="2" charset="0"/>
              </a:rPr>
              <a:t>A set of 32 learnable query tokens.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af-ZA" sz="2000" b="1" dirty="0">
                <a:latin typeface="Sitka Text Semibold" pitchFamily="2" charset="0"/>
              </a:rPr>
              <a:t>Instruction tokens</a:t>
            </a:r>
            <a:r>
              <a:rPr lang="en-US" sz="2000" b="1" dirty="0">
                <a:latin typeface="Sitka Text Semibold" pitchFamily="2" charset="0"/>
              </a:rPr>
              <a:t> – the prompt</a:t>
            </a:r>
            <a:r>
              <a:rPr lang="af-ZA" sz="2000" b="1" dirty="0">
                <a:latin typeface="Sitka Text Semibold" pitchFamily="2" charset="0"/>
              </a:rPr>
              <a:t> (</a:t>
            </a:r>
            <a:r>
              <a:rPr lang="en-US" sz="2000" b="1" dirty="0">
                <a:latin typeface="Sitka Text Semibold" pitchFamily="2" charset="0"/>
              </a:rPr>
              <a:t>this is the InstructBLIP extension: instruction-aware Q-former</a:t>
            </a:r>
            <a:r>
              <a:rPr lang="af-ZA" sz="2000" b="1" dirty="0">
                <a:latin typeface="Sitka Text Semibold" pitchFamily="2" charset="0"/>
              </a:rPr>
              <a:t>).</a:t>
            </a:r>
            <a:br>
              <a:rPr lang="en-US" sz="2000" b="1" dirty="0">
                <a:latin typeface="Sitka Text Semibold" pitchFamily="2" charset="0"/>
              </a:rPr>
            </a:br>
            <a:endParaRPr lang="en-US" sz="2000" b="1" dirty="0">
              <a:latin typeface="Sitka Text Semibold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What are “Query Tokens”?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Sitka Text Semibold" pitchFamily="2" charset="0"/>
              </a:rPr>
              <a:t>They are trainable vectors (like 32 special tokens) whose job is to pull useful info from the image tokens through cross-attention.</a:t>
            </a:r>
            <a:endParaRPr lang="af-ZA" sz="2000" b="1" dirty="0">
              <a:latin typeface="Sitka Text Semibold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af-ZA" sz="2000" b="1" dirty="0">
              <a:solidFill>
                <a:srgbClr val="587CB8"/>
              </a:solidFill>
              <a:latin typeface="Alexandria Semi Bold" pitchFamily="34" charset="0"/>
              <a:cs typeface="Alexandria Semi Bold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lexandria Semi Bold" pitchFamily="34" charset="0"/>
                <a:cs typeface="Alexandria Semi Bold" pitchFamily="34" charset="-120"/>
              </a:rPr>
              <a:t>Q-Former - </a:t>
            </a:r>
            <a:r>
              <a:rPr lang="af-ZA" sz="2400" b="1" dirty="0">
                <a:latin typeface="Alexandria Semi Bold" pitchFamily="34" charset="0"/>
                <a:cs typeface="Alexandria Semi Bold" pitchFamily="34" charset="-120"/>
              </a:rPr>
              <a:t>What It Does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af-ZA" sz="2000" b="1" u="sng" dirty="0">
                <a:latin typeface="Sitka Text Semibold" pitchFamily="2" charset="0"/>
              </a:rPr>
              <a:t>Self-attention over (queries + instruction tokens)</a:t>
            </a:r>
            <a:r>
              <a:rPr lang="af-ZA" sz="2000" b="1" dirty="0">
                <a:latin typeface="Sitka Text Semibold" pitchFamily="2" charset="0"/>
              </a:rPr>
              <a:t> </a:t>
            </a:r>
            <a:r>
              <a:rPr lang="en-US" sz="2000" b="1" dirty="0">
                <a:latin typeface="Sitka Text Semibold" pitchFamily="2" charset="0"/>
              </a:rPr>
              <a:t>- allowing the model to "understand" the task so that the queries know exactly which visual details to look for, in the image.</a:t>
            </a:r>
            <a:endParaRPr lang="af-ZA" sz="2000" b="1" dirty="0">
              <a:latin typeface="Sitka Text Semibold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Sitka Text Semibold" pitchFamily="2" charset="0"/>
              </a:rPr>
              <a:t>Cross-attention where queries attend to vision tokens</a:t>
            </a:r>
            <a:r>
              <a:rPr lang="en-US" sz="2000" b="1" dirty="0">
                <a:latin typeface="Sitka Text Semibold" pitchFamily="2" charset="0"/>
              </a:rPr>
              <a:t> - act like scouts to find and collect only the specific parts of the image needed to answer the question.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af-ZA" sz="2000" b="1" dirty="0">
                <a:latin typeface="Sitka Text Semibold" pitchFamily="2" charset="0"/>
              </a:rPr>
              <a:t>FFN </a:t>
            </a:r>
            <a:r>
              <a:rPr lang="en-US" sz="2000" b="1" dirty="0">
                <a:latin typeface="Sitka Text Semibold" pitchFamily="2" charset="0"/>
              </a:rPr>
              <a:t>is about processing the output of the attention layer, make sure it is ready and useful for the next stage of the model. (in a way that make the data smarter)</a:t>
            </a:r>
          </a:p>
          <a:p>
            <a:r>
              <a:rPr lang="en-US" sz="2000" b="1" dirty="0">
                <a:latin typeface="Sitka Text Semibold" pitchFamily="2" charset="0"/>
                <a:cs typeface="Sora Light" pitchFamily="34" charset="-120"/>
              </a:rPr>
              <a:t>	</a:t>
            </a:r>
            <a:endParaRPr lang="he-IL" sz="2000" b="1" dirty="0">
              <a:latin typeface="Sitka Text Semibold" pitchFamily="2" charset="0"/>
            </a:endParaRPr>
          </a:p>
        </p:txBody>
      </p:sp>
      <p:pic>
        <p:nvPicPr>
          <p:cNvPr id="4" name="תמונה 3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43E131F-8930-0BBA-2FD3-39F8237E7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664" y="450027"/>
            <a:ext cx="3386463" cy="2443397"/>
          </a:xfrm>
          <a:prstGeom prst="rect">
            <a:avLst/>
          </a:prstGeom>
        </p:spPr>
      </p:pic>
      <p:pic>
        <p:nvPicPr>
          <p:cNvPr id="3" name="Image 0">
            <a:extLst>
              <a:ext uri="{FF2B5EF4-FFF2-40B4-BE49-F238E27FC236}">
                <a16:creationId xmlns:a16="http://schemas.microsoft.com/office/drawing/2014/main" id="{B2BC392E-E279-2E66-D999-68A6F266B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0029466" y="3628665"/>
            <a:ext cx="8229598" cy="97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69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7B7E3-E01A-4EC3-04D9-551A88CEE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99410A94-3767-17C6-5487-9A49F7174A02}"/>
              </a:ext>
            </a:extLst>
          </p:cNvPr>
          <p:cNvSpPr/>
          <p:nvPr/>
        </p:nvSpPr>
        <p:spPr>
          <a:xfrm>
            <a:off x="0" y="710119"/>
            <a:ext cx="14630400" cy="88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ts val="5600"/>
              </a:lnSpc>
              <a:buNone/>
            </a:pPr>
            <a:r>
              <a:rPr lang="af-ZA" sz="4450" b="1" dirty="0">
                <a:latin typeface="Alexandria Semi Bold" pitchFamily="34" charset="0"/>
                <a:cs typeface="Alexandria Semi Bold" pitchFamily="34" charset="-120"/>
              </a:rPr>
              <a:t>The Large Language Model</a:t>
            </a:r>
            <a:endParaRPr lang="en-US" sz="4450" b="1" dirty="0">
              <a:latin typeface="Alexandria Semi Bold" pitchFamily="34" charset="0"/>
              <a:cs typeface="Alexandria Semi Bold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96D7DF08-8FCE-01FE-A2A5-C37D544F324B}"/>
                  </a:ext>
                </a:extLst>
              </p:cNvPr>
              <p:cNvSpPr txBox="1"/>
              <p:nvPr/>
            </p:nvSpPr>
            <p:spPr>
              <a:xfrm>
                <a:off x="965678" y="2305455"/>
                <a:ext cx="13319948" cy="523419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Alexandria Semi Bold" pitchFamily="34" charset="0"/>
                    <a:cs typeface="Alexandria Semi Bold" pitchFamily="34" charset="-120"/>
                  </a:rPr>
                  <a:t>Linear projection (“Fully Connected” block):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</a:rPr>
                  <a:t>The Q-Former outputs 32 vectors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af-ZA" sz="2000" b="1" dirty="0">
                    <a:latin typeface="Sitka Text Semibold" pitchFamily="2" charset="0"/>
                  </a:rPr>
                  <a:t>But the LLM expects token in its own dimension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</a:rPr>
                  <a:t>The Linear Projection is a single matrix multiplication that transforms the dimensional output of the Q-Former into the dimensional input required by the LLM.</a:t>
                </a:r>
                <a:endParaRPr lang="af-ZA" sz="2000" b="1" dirty="0">
                  <a:latin typeface="Sitka Text Semibold" pitchFamily="2" charset="0"/>
                </a:endParaRPr>
              </a:p>
              <a:p>
                <a:endParaRPr lang="af-ZA" sz="2400" b="1" dirty="0">
                  <a:latin typeface="Alexandria Semi Bold" pitchFamily="34" charset="0"/>
                  <a:cs typeface="Alexandria Semi Bold" pitchFamily="34" charset="-12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af-ZA" sz="2400" b="1" dirty="0">
                    <a:latin typeface="Alexandria Semi Bold" pitchFamily="34" charset="0"/>
                    <a:cs typeface="Alexandria Semi Bold" pitchFamily="34" charset="-120"/>
                  </a:rPr>
                  <a:t>Input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</a:rPr>
                  <a:t>the LLM input sequence 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[ </m:t>
                    </m:r>
                    <m:limLow>
                      <m:limLow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..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</m:groupChr>
                      </m:e>
                      <m:lim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𝒔𝒐𝒇𝒕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𝒗𝒊𝒔𝒖𝒂𝒍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𝒒𝒖𝒆𝒓𝒚𝒔</m:t>
                        </m:r>
                      </m:lim>
                    </m:limLow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  </m:t>
                    </m:r>
                    <m:limLow>
                      <m:limLow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𝒊𝒏𝒔𝒕𝒓𝒖𝒄𝒕𝒊𝒐𝒏</m:t>
                            </m:r>
                          </m:e>
                        </m:groupChr>
                      </m:e>
                      <m:lim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𝒕𝒆𝒙𝒕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𝒑𝒓𝒐𝒎𝒑𝒕</m:t>
                        </m:r>
                      </m:lim>
                    </m:limLow>
                  </m:oMath>
                </a14:m>
                <a:r>
                  <a:rPr lang="en-US" sz="2400" b="1" dirty="0">
                    <a:latin typeface="Sitka Text Semibold" pitchFamily="2" charset="0"/>
                  </a:rPr>
                  <a:t> ]</a:t>
                </a:r>
              </a:p>
              <a:p>
                <a:pPr lvl="1"/>
                <a:endParaRPr lang="af-ZA" sz="2400" b="1" dirty="0">
                  <a:latin typeface="Alexandria Semi Bold" pitchFamily="34" charset="0"/>
                  <a:cs typeface="Alexandria Semi Bold" pitchFamily="34" charset="-12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Alexandria Semi Bold" pitchFamily="34" charset="0"/>
                    <a:cs typeface="Alexandria Semi Bold" pitchFamily="34" charset="-120"/>
                  </a:rPr>
                  <a:t>Output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Alexandria Semi Bold" pitchFamily="34" charset="0"/>
                    <a:cs typeface="Alexandria Semi Bold" pitchFamily="34" charset="-120"/>
                  </a:rPr>
                  <a:t>For LLMs like </a:t>
                </a:r>
                <a:r>
                  <a:rPr lang="af-ZA" sz="2400" b="1" dirty="0">
                    <a:latin typeface="Alexandria Semi Bold" pitchFamily="34" charset="0"/>
                    <a:cs typeface="Alexandria Semi Bold" pitchFamily="34" charset="-120"/>
                  </a:rPr>
                  <a:t>Flan-T5</a:t>
                </a:r>
              </a:p>
              <a:p>
                <a:pPr marL="2286000" lvl="4" indent="-4572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</a:rPr>
                  <a:t>Processes the whole input first, then generates the whole output.</a:t>
                </a:r>
                <a:endParaRPr lang="af-ZA" sz="2000" b="1" dirty="0">
                  <a:solidFill>
                    <a:srgbClr val="587CB8"/>
                  </a:solidFill>
                  <a:latin typeface="Alexandria Semi Bold" pitchFamily="34" charset="0"/>
                  <a:cs typeface="Alexandria Semi Bold" pitchFamily="34" charset="-120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Alexandria Semi Bold" pitchFamily="34" charset="0"/>
                    <a:cs typeface="Alexandria Semi Bold" pitchFamily="34" charset="-120"/>
                  </a:rPr>
                  <a:t>For LLMs like Vicuna*</a:t>
                </a:r>
                <a:endParaRPr lang="af-ZA" sz="2400" b="1" dirty="0">
                  <a:latin typeface="Alexandria Semi Bold" pitchFamily="34" charset="0"/>
                  <a:cs typeface="Alexandria Semi Bold" pitchFamily="34" charset="-120"/>
                </a:endParaRPr>
              </a:p>
              <a:p>
                <a:pPr marL="2286000" lvl="4" indent="-4572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Sitka Text Semibold" pitchFamily="2" charset="0"/>
                  </a:rPr>
                  <a:t>Generates output tokens in a sequence, one by one. </a:t>
                </a:r>
              </a:p>
            </p:txBody>
          </p:sp>
        </mc:Choice>
        <mc:Fallback xmlns="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96D7DF08-8FCE-01FE-A2A5-C37D544F3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678" y="2305455"/>
                <a:ext cx="13319948" cy="5234190"/>
              </a:xfrm>
              <a:prstGeom prst="rect">
                <a:avLst/>
              </a:prstGeom>
              <a:blipFill>
                <a:blip r:embed="rId3"/>
                <a:stretch>
                  <a:fillRect l="-595" t="-815" b="-104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6CBAD58-DD7A-D2E7-BF74-5C314C86C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9087" y="0"/>
            <a:ext cx="3451313" cy="267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78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E3ED1E-420F-BDA1-7130-879553CF7862}"/>
              </a:ext>
            </a:extLst>
          </p:cNvPr>
          <p:cNvSpPr/>
          <p:nvPr/>
        </p:nvSpPr>
        <p:spPr>
          <a:xfrm>
            <a:off x="0" y="202119"/>
            <a:ext cx="14630400" cy="88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5600"/>
              </a:lnSpc>
            </a:pPr>
            <a:r>
              <a:rPr lang="af-ZA" sz="4450" b="1" dirty="0">
                <a:latin typeface="Alexandria Semi Bold" pitchFamily="34" charset="0"/>
                <a:cs typeface="Alexandria Semi Bold" pitchFamily="34" charset="-120"/>
              </a:rPr>
              <a:t>InstructBLIP Training Strategy</a:t>
            </a:r>
          </a:p>
          <a:p>
            <a:pPr indent="0" algn="ctr">
              <a:lnSpc>
                <a:spcPts val="5600"/>
              </a:lnSpc>
              <a:buNone/>
            </a:pPr>
            <a:endParaRPr lang="en-US" sz="4450" dirty="0">
              <a:solidFill>
                <a:srgbClr val="597DB9"/>
              </a:solidFill>
              <a:latin typeface="Alexandria Semi Bold" pitchFamily="34" charset="0"/>
              <a:cs typeface="Alexandria Semi Bold" pitchFamily="34" charset="-120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AD066EB6-380D-9BAE-0720-9D41FFB1CF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4" t="3785" r="2741" b="2338"/>
          <a:stretch>
            <a:fillRect/>
          </a:stretch>
        </p:blipFill>
        <p:spPr>
          <a:xfrm>
            <a:off x="7847635" y="1943861"/>
            <a:ext cx="6585996" cy="35630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85A577AC-43F0-FDEA-AD0A-726AF9E00827}"/>
                  </a:ext>
                </a:extLst>
              </p:cNvPr>
              <p:cNvSpPr txBox="1"/>
              <p:nvPr/>
            </p:nvSpPr>
            <p:spPr>
              <a:xfrm>
                <a:off x="98385" y="1368526"/>
                <a:ext cx="7535119" cy="58459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af-ZA" sz="2400" b="1" dirty="0">
                    <a:latin typeface="Alexandria Semi Bold" pitchFamily="34" charset="0"/>
                    <a:cs typeface="Alexandria Semi Bold" pitchFamily="34" charset="-120"/>
                  </a:rPr>
                  <a:t>Instruction Tuning Data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  <a:t>26 public datasets across 11 task types.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  <a:t>Format: All data converted into "Instruction" style (e.g., "What is in this image?”).</a:t>
                </a:r>
                <a:endParaRPr lang="af-ZA" sz="2400" b="1" dirty="0">
                  <a:latin typeface="Alexandria Semi Bold" pitchFamily="34" charset="0"/>
                  <a:cs typeface="Alexandria Semi Bold" pitchFamily="34" charset="-120"/>
                </a:endParaRPr>
              </a:p>
              <a:p>
                <a:endParaRPr lang="en-US" sz="2400" b="1" dirty="0">
                  <a:latin typeface="Alexandria Semi Bold" panose="020B0604020202020204" charset="-78"/>
                  <a:cs typeface="Alexandria Semi Bold" panose="020B0604020202020204" charset="-78"/>
                </a:endParaRPr>
              </a:p>
              <a:p>
                <a:br>
                  <a:rPr lang="en-US" sz="2400" b="1" dirty="0">
                    <a:latin typeface="Alexandria Semi Bold" panose="020B0604020202020204" charset="-78"/>
                    <a:cs typeface="Alexandria Semi Bold" panose="020B0604020202020204" charset="-78"/>
                  </a:rPr>
                </a:br>
                <a:r>
                  <a:rPr lang="en-US" sz="2400" b="1" dirty="0">
                    <a:latin typeface="Alexandria Semi Bold" panose="020B0604020202020204" charset="-78"/>
                    <a:cs typeface="Alexandria Semi Bold" panose="020B0604020202020204" charset="-78"/>
                  </a:rPr>
                  <a:t>Training Protocol</a:t>
                </a:r>
                <a:endParaRPr lang="af-ZA" sz="2400" b="1" dirty="0">
                  <a:latin typeface="Alexandria Semi Bold" panose="020B0604020202020204" charset="-78"/>
                  <a:cs typeface="Alexandria Semi Bold" panose="020B0604020202020204" charset="-78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  <a:t>Held-in: Used to train the model (Q-Former).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1" dirty="0">
                    <a:latin typeface="Sitka Text Semibold" pitchFamily="2" charset="0"/>
                  </a:rPr>
                  <a:t>Held-out: Completely unseen during training, used to test Zero-Shot Generalization performance</a:t>
                </a:r>
                <a:endParaRPr lang="af-ZA" sz="2000" b="1" dirty="0">
                  <a:latin typeface="Sitka Text Semibold" pitchFamily="2" charset="0"/>
                </a:endParaRPr>
              </a:p>
              <a:p>
                <a:endParaRPr lang="en-US" sz="2400" b="1" dirty="0">
                  <a:latin typeface="Alexandria Semi Bold" panose="020B0604020202020204" charset="-78"/>
                  <a:cs typeface="Alexandria Semi Bold" panose="020B0604020202020204" charset="-78"/>
                </a:endParaRPr>
              </a:p>
              <a:p>
                <a:br>
                  <a:rPr lang="en-US" sz="2400" b="1" dirty="0">
                    <a:latin typeface="Alexandria Semi Bold" panose="020B0604020202020204" charset="-78"/>
                    <a:cs typeface="Alexandria Semi Bold" panose="020B0604020202020204" charset="-78"/>
                  </a:rPr>
                </a:br>
                <a:r>
                  <a:rPr lang="en-US" sz="2400" b="1" dirty="0">
                    <a:latin typeface="Alexandria Semi Bold" panose="020B0604020202020204" charset="-78"/>
                    <a:cs typeface="Alexandria Semi Bold" panose="020B0604020202020204" charset="-78"/>
                  </a:rPr>
                  <a:t>Balanced Sampling Strategy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1" dirty="0">
                    <a:latin typeface="Sitka Text Semibold" pitchFamily="2" charset="0"/>
                    <a:cs typeface="Sora Light" pitchFamily="34" charset="-120"/>
                  </a:rPr>
                  <a:t>Challenge: Significant variance in dataset sizes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1" dirty="0">
                    <a:latin typeface="Sitka Text Semibold" pitchFamily="2" charset="0"/>
                    <a:cs typeface="Alexandria Semi Bold" panose="020B0604020202020204" charset="-78"/>
                  </a:rPr>
                  <a:t>Solution: Used a square root sampling strategy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b="1" i="1">
                            <a:latin typeface="Cambria Math" panose="02040503050406030204" pitchFamily="18" charset="0"/>
                            <a:cs typeface="Alexandria Semi Bold" panose="020B0604020202020204" charset="-78"/>
                          </a:rPr>
                        </m:ctrlPr>
                      </m:radPr>
                      <m:deg/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lexandria Semi Bold" panose="020B0604020202020204" charset="-78"/>
                          </a:rPr>
                          <m:t>𝑺</m:t>
                        </m:r>
                      </m:e>
                    </m:rad>
                  </m:oMath>
                </a14:m>
                <a:r>
                  <a:rPr lang="en-US" sz="2000" b="1" dirty="0">
                    <a:latin typeface="Sitka Text Semibold" pitchFamily="2" charset="0"/>
                    <a:cs typeface="Alexandria Semi Bold" panose="020B0604020202020204" charset="-78"/>
                  </a:rPr>
                  <a:t>) to balance the data and prevent overfitting.</a:t>
                </a:r>
                <a:br>
                  <a:rPr lang="en-US" sz="2000" b="1" dirty="0">
                    <a:latin typeface="Sitka Text Semibold" pitchFamily="2" charset="0"/>
                    <a:cs typeface="Alexandria Semi Bold" panose="020B0604020202020204" charset="-78"/>
                  </a:rPr>
                </a:br>
                <a:endParaRPr lang="en-US" sz="2400" b="1" dirty="0">
                  <a:latin typeface="Alexandria Semi Bold" panose="020B0604020202020204" charset="-78"/>
                  <a:cs typeface="Alexandria Semi Bold" panose="020B0604020202020204" charset="-78"/>
                </a:endParaRPr>
              </a:p>
            </p:txBody>
          </p:sp>
        </mc:Choice>
        <mc:Fallback xmlns="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85A577AC-43F0-FDEA-AD0A-726AF9E00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5" y="1368526"/>
                <a:ext cx="7535119" cy="5845959"/>
              </a:xfrm>
              <a:prstGeom prst="rect">
                <a:avLst/>
              </a:prstGeom>
              <a:blipFill>
                <a:blip r:embed="rId4"/>
                <a:stretch>
                  <a:fillRect l="-1214" t="-730" r="-13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6036332-C32C-4E9E-AB5B-3BF6854BCACB}"/>
              </a:ext>
            </a:extLst>
          </p:cNvPr>
          <p:cNvSpPr txBox="1"/>
          <p:nvPr/>
        </p:nvSpPr>
        <p:spPr>
          <a:xfrm>
            <a:off x="7633504" y="5578684"/>
            <a:ext cx="7159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>
                <a:latin typeface="Sitka Text Semibold" pitchFamily="2" charset="0"/>
              </a:rPr>
              <a:t>Held in – yellow			Held out - White </a:t>
            </a:r>
          </a:p>
        </p:txBody>
      </p:sp>
    </p:spTree>
    <p:extLst>
      <p:ext uri="{BB962C8B-B14F-4D97-AF65-F5344CB8AC3E}">
        <p14:creationId xmlns:p14="http://schemas.microsoft.com/office/powerpoint/2010/main" val="1339201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E32E1-59A3-0CA3-9335-03A709B1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C51014-F327-7C9F-19AF-FBABBA6E4FDD}"/>
              </a:ext>
            </a:extLst>
          </p:cNvPr>
          <p:cNvSpPr/>
          <p:nvPr/>
        </p:nvSpPr>
        <p:spPr>
          <a:xfrm>
            <a:off x="152400" y="588169"/>
            <a:ext cx="14630400" cy="88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ts val="5600"/>
              </a:lnSpc>
              <a:buNone/>
            </a:pPr>
            <a:r>
              <a:rPr lang="en-US" sz="4450" b="1" dirty="0">
                <a:latin typeface="Alexandria Semi Bold" pitchFamily="34" charset="0"/>
                <a:cs typeface="Alexandria Semi Bold" pitchFamily="34" charset="-120"/>
              </a:rPr>
              <a:t>System Workflow Turning a Chatbot into a Detector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1F28B09-114D-2525-32B1-DF205A47E223}"/>
              </a:ext>
            </a:extLst>
          </p:cNvPr>
          <p:cNvSpPr txBox="1"/>
          <p:nvPr/>
        </p:nvSpPr>
        <p:spPr>
          <a:xfrm>
            <a:off x="1041090" y="1594292"/>
            <a:ext cx="12853020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000" u="sng" dirty="0">
                <a:latin typeface="Sitka Text Semibold" pitchFamily="2" charset="0"/>
                <a:cs typeface="Sora Light" pitchFamily="34" charset="-120"/>
              </a:rPr>
              <a:t>Step 1 -  The Input</a:t>
            </a:r>
            <a:r>
              <a:rPr lang="af-ZA" sz="2000" dirty="0">
                <a:latin typeface="Sitka Text Semibold" pitchFamily="2" charset="0"/>
                <a:cs typeface="Sora Light" pitchFamily="34" charset="-120"/>
              </a:rPr>
              <a:t>: </a:t>
            </a:r>
            <a:r>
              <a:rPr lang="en-US" sz="2000" dirty="0">
                <a:latin typeface="Sitka Text Semibold" pitchFamily="2" charset="0"/>
                <a:cs typeface="Sora Light" pitchFamily="34" charset="-120"/>
              </a:rPr>
              <a:t>Standard Image (I) + Fixed Prompt (Q): “Is this photo real?”.</a:t>
            </a:r>
            <a:endParaRPr lang="af-ZA" sz="2000" dirty="0">
              <a:latin typeface="Sitka Text Semibold" pitchFamily="2" charset="0"/>
              <a:cs typeface="Sora Light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000" u="sng" dirty="0">
                <a:latin typeface="Sitka Text Semibold" pitchFamily="2" charset="0"/>
                <a:cs typeface="Sora Light" pitchFamily="34" charset="-120"/>
              </a:rPr>
              <a:t>Step 2 - The bridge</a:t>
            </a:r>
            <a:r>
              <a:rPr lang="af-ZA" sz="2000" dirty="0">
                <a:latin typeface="Sitka Text Semibold" pitchFamily="2" charset="0"/>
                <a:cs typeface="Sora Light" pitchFamily="34" charset="-120"/>
              </a:rPr>
              <a:t>: </a:t>
            </a:r>
            <a:r>
              <a:rPr lang="en-US" sz="2000" dirty="0"/>
              <a:t> </a:t>
            </a:r>
            <a:r>
              <a:rPr lang="en-US" sz="2000" dirty="0">
                <a:latin typeface="Sitka Text Semibold" pitchFamily="2" charset="0"/>
                <a:cs typeface="Sora Light" pitchFamily="34" charset="-120"/>
              </a:rPr>
              <a:t>Q-Former extracts visual features specifically to answer the prompt.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u="sng" dirty="0">
                <a:latin typeface="Sitka Text Semibold" pitchFamily="2" charset="0"/>
                <a:cs typeface="Sora Light" pitchFamily="34" charset="-120"/>
              </a:rPr>
              <a:t>Step 3 - </a:t>
            </a:r>
            <a:r>
              <a:rPr lang="it-IT" sz="2000" u="sng" dirty="0">
                <a:latin typeface="Sitka Text Semibold" pitchFamily="2" charset="0"/>
                <a:cs typeface="Sora Light" pitchFamily="34" charset="-120"/>
              </a:rPr>
              <a:t>The Innovation (</a:t>
            </a:r>
            <a:r>
              <a:rPr lang="it-IT" sz="2000" dirty="0">
                <a:latin typeface="Sitka Text Semibold (גוף)"/>
              </a:rPr>
              <a:t>token Probabilities</a:t>
            </a:r>
            <a:r>
              <a:rPr lang="it-IT" sz="2000" u="sng" dirty="0">
                <a:latin typeface="Sitka Text Semibold" pitchFamily="2" charset="0"/>
                <a:cs typeface="Sora Light" pitchFamily="34" charset="-120"/>
              </a:rPr>
              <a:t> Extraction)</a:t>
            </a:r>
            <a:r>
              <a:rPr lang="en-US" sz="2000" dirty="0">
                <a:latin typeface="Sitka Text Semibold" pitchFamily="2" charset="0"/>
                <a:cs typeface="Sora Light" pitchFamily="34" charset="-120"/>
              </a:rPr>
              <a:t>: Instead of generating text ("Yes/No"), we access raw token probabilities</a:t>
            </a:r>
            <a:r>
              <a:rPr lang="en-US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u="sng" dirty="0">
                <a:latin typeface="Sitka Text Semibold" pitchFamily="2" charset="0"/>
                <a:cs typeface="Sora Light" pitchFamily="34" charset="-120"/>
              </a:rPr>
              <a:t>Step 4 -  The Output</a:t>
            </a:r>
            <a:r>
              <a:rPr lang="en-US" sz="2000" dirty="0">
                <a:latin typeface="Sitka Text Semibold" pitchFamily="2" charset="0"/>
                <a:cs typeface="Sora Light" pitchFamily="34" charset="-120"/>
              </a:rPr>
              <a:t>: Result: A precise Anomaly Score (0-1) for AUC calculation.</a:t>
            </a:r>
            <a:endParaRPr lang="he-IL" sz="2000" dirty="0">
              <a:latin typeface="Sitka Text Semibold" pitchFamily="2" charset="0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BCEEC687-55B0-6C0A-3799-7B67B8E9C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2" y="3696953"/>
            <a:ext cx="14527016" cy="330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81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AD7D9-8976-10F0-8FEE-26B6795A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>
            <a:extLst>
              <a:ext uri="{FF2B5EF4-FFF2-40B4-BE49-F238E27FC236}">
                <a16:creationId xmlns:a16="http://schemas.microsoft.com/office/drawing/2014/main" id="{31545542-9A8B-6AA3-677D-56CB8F467D59}"/>
              </a:ext>
            </a:extLst>
          </p:cNvPr>
          <p:cNvSpPr/>
          <p:nvPr/>
        </p:nvSpPr>
        <p:spPr>
          <a:xfrm>
            <a:off x="5020044" y="688368"/>
            <a:ext cx="1029843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latin typeface="Alexandria Semi Bold" pitchFamily="34" charset="0"/>
                <a:cs typeface="Alexandria Semi Bold" pitchFamily="34" charset="-120"/>
              </a:rPr>
              <a:t>Testing Plan</a:t>
            </a:r>
            <a:endParaRPr lang="en-US" sz="445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215F80-A722-B4E3-F57E-D03E10A6E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745404"/>
              </p:ext>
            </p:extLst>
          </p:nvPr>
        </p:nvGraphicFramePr>
        <p:xfrm>
          <a:off x="408562" y="1653310"/>
          <a:ext cx="12969813" cy="54984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8295">
                  <a:extLst>
                    <a:ext uri="{9D8B030D-6E8A-4147-A177-3AD203B41FA5}">
                      <a16:colId xmlns:a16="http://schemas.microsoft.com/office/drawing/2014/main" val="766951813"/>
                    </a:ext>
                  </a:extLst>
                </a:gridCol>
                <a:gridCol w="3444115">
                  <a:extLst>
                    <a:ext uri="{9D8B030D-6E8A-4147-A177-3AD203B41FA5}">
                      <a16:colId xmlns:a16="http://schemas.microsoft.com/office/drawing/2014/main" val="1892401769"/>
                    </a:ext>
                  </a:extLst>
                </a:gridCol>
                <a:gridCol w="3204795">
                  <a:extLst>
                    <a:ext uri="{9D8B030D-6E8A-4147-A177-3AD203B41FA5}">
                      <a16:colId xmlns:a16="http://schemas.microsoft.com/office/drawing/2014/main" val="1160100998"/>
                    </a:ext>
                  </a:extLst>
                </a:gridCol>
                <a:gridCol w="4432608">
                  <a:extLst>
                    <a:ext uri="{9D8B030D-6E8A-4147-A177-3AD203B41FA5}">
                      <a16:colId xmlns:a16="http://schemas.microsoft.com/office/drawing/2014/main" val="2665966317"/>
                    </a:ext>
                  </a:extLst>
                </a:gridCol>
              </a:tblGrid>
              <a:tr h="3707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Unit Under Test</a:t>
                      </a:r>
                      <a:endParaRPr lang="af-Z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 Case</a:t>
                      </a:r>
                      <a:endParaRPr lang="af-Z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Input</a:t>
                      </a:r>
                      <a:endParaRPr lang="af-Z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Expected Output</a:t>
                      </a:r>
                      <a:endParaRPr lang="af-Z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807230"/>
                  </a:ext>
                </a:extLst>
              </a:tr>
              <a:tr h="7218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af-ZA" sz="1800" b="1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SBI Module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dirty="0"/>
                        <a:t>SBIModelLoad</a:t>
                      </a:r>
                      <a:endParaRPr lang="af-ZA" sz="1600" kern="1200" dirty="0">
                        <a:solidFill>
                          <a:srgbClr val="1F1F1F"/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/>
                        <a:t>Path to the pre-trained SBI weights (EfficientNet-b4)</a:t>
                      </a:r>
                      <a:r>
                        <a:rPr lang="en-US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/>
                        <a:t>The SBI model loads to memory ready for inference.</a:t>
                      </a:r>
                      <a:endParaRPr lang="en-US" sz="1600" kern="1200" dirty="0">
                        <a:solidFill>
                          <a:srgbClr val="1F1F1F"/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311996"/>
                  </a:ext>
                </a:extLst>
              </a:tr>
              <a:tr h="7218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800" b="1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SBI Module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SBIBoundaryCheck</a:t>
                      </a:r>
                      <a:endParaRPr lang="en-US" sz="1600" kern="1200" dirty="0">
                        <a:solidFill>
                          <a:srgbClr val="1F1F1F"/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A final Self-Blended Image (SBI) after processing.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An image tensor of exact dimensions (224 X 224) with no visible artifacts at the borders.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881235"/>
                  </a:ext>
                </a:extLst>
              </a:tr>
              <a:tr h="7218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800" b="1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SBI Module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dirty="0"/>
                        <a:t>SBIInference</a:t>
                      </a:r>
                      <a:endParaRPr lang="af-ZA" sz="1600" kern="1200" dirty="0">
                        <a:solidFill>
                          <a:srgbClr val="1F1F1F"/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/>
                        <a:t>A standard image tensor (preprocessed for SBI).</a:t>
                      </a:r>
                      <a:endParaRPr lang="en-US" sz="1600" kern="1200" dirty="0">
                        <a:solidFill>
                          <a:srgbClr val="1F1F1F"/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/>
                        <a:t>A single float prediction score representing the probability of the image being fake.</a:t>
                      </a:r>
                      <a:endParaRPr lang="en-US" sz="1600" kern="1200" dirty="0">
                        <a:solidFill>
                          <a:srgbClr val="1F1F1F"/>
                        </a:solidFill>
                        <a:effectLst/>
                        <a:latin typeface="Google Sans Tex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264354"/>
                  </a:ext>
                </a:extLst>
              </a:tr>
              <a:tr h="72185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800" b="1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InstructBLIP Module</a:t>
                      </a:r>
                    </a:p>
                  </a:txBody>
                  <a:tcPr marL="57150" marR="571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InstructBLIPModelLoad</a:t>
                      </a:r>
                    </a:p>
                  </a:txBody>
                  <a:tcPr marL="57150" marR="57150" marT="38100" marB="381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Model configuration path and weights (InstructBLIP).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The Model and Processor objects initialized in GPU/CPU memory ready for inference.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578506"/>
                  </a:ext>
                </a:extLst>
              </a:tr>
              <a:tr h="5896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800" b="1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InstructBLIP Module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InstructBLIPImagePrompting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An image and the prompt "Is this photo real?".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The model outputs a text response containing relevant tokens ("Yes"/"No“) with explanations.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361537"/>
                  </a:ext>
                </a:extLst>
              </a:tr>
              <a:tr h="5016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Inference Pipeline</a:t>
                      </a:r>
                      <a:endParaRPr lang="af-ZA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Zero-Shot Detection Flow</a:t>
                      </a:r>
                    </a:p>
                  </a:txBody>
                  <a:tcPr marL="57150" marR="57150" marT="38100" marB="381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A dummy image (tensor) and the standard deepfake prompt.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A single float value (0.0 to 1.0) representing the "Fakeness" confidence score without errors.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225573"/>
                  </a:ext>
                </a:extLst>
              </a:tr>
              <a:tr h="75468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af-ZA" sz="1800" b="1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Evaluation Module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CompareModels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Results from both InstructBLIP and SBI on the same batch.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comparison output showing which model performed better (Accuracy). </a:t>
                      </a:r>
                      <a:b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 expected that </a:t>
                      </a:r>
                      <a:r>
                        <a:rPr lang="af-ZA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InstructBLIP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with zero-shot will be better from SBI.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662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202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971ED-8A44-185A-883C-F019DBD98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B05376-E184-C3A9-D5BD-006FC0D1C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271" y="1588049"/>
            <a:ext cx="8858728" cy="505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36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C660F77-45D4-48B3-8D4C-B64CE0E7C4ED}">
  <we:reference id="4b785c87-866c-4bad-85d8-5d1ae467ac9a" version="3.20.1.0" store="EXCatalog" storeType="EXCatalog"/>
  <we:alternateReferences>
    <we:reference id="WA104381909" version="3.20.1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3232</TotalTime>
  <Words>3783</Words>
  <Application>Microsoft Office PowerPoint</Application>
  <PresentationFormat>מותאם אישית</PresentationFormat>
  <Paragraphs>307</Paragraphs>
  <Slides>17</Slides>
  <Notes>17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5" baseType="lpstr">
      <vt:lpstr>Sitka Text Semibold</vt:lpstr>
      <vt:lpstr>Cambria Math</vt:lpstr>
      <vt:lpstr>Arial</vt:lpstr>
      <vt:lpstr>Google Sans Text</vt:lpstr>
      <vt:lpstr>Sitka Text Semibold (גוף)</vt:lpstr>
      <vt:lpstr>Arial Rounded MT Bold</vt:lpstr>
      <vt:lpstr>Alexandria Semi Bold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ניר גליק</cp:lastModifiedBy>
  <cp:revision>160</cp:revision>
  <dcterms:created xsi:type="dcterms:W3CDTF">2025-01-11T16:22:14Z</dcterms:created>
  <dcterms:modified xsi:type="dcterms:W3CDTF">2026-01-26T07:58:59Z</dcterms:modified>
</cp:coreProperties>
</file>